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Welcome everyone, thanks for making time on a Monday
- Three things to cover today: where Sprint 3 stands after the NS breach, Doug's handover, and a check-in on our quarterly priorities
- This is Doug's last meeting with leadership so we want to make sure we capture everything we need from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- 7 items to get through — should take about 20-25 minutes
- We'll start with recognising Doug's work, then move into sprint health
- The back half is forward-looking: quarterly priorities, backlog triage, and actions we need agreement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LEGACY
- Doug closed 47 issues over ~6 months — he essentially built the entire Orders frontend from scratch
- The big items: orders table, create/view/edit/cancel/schedule flows, pricing, invoicing, charts, filtering, exports
- He also built the year-over-year comparison charts, organisation side panel, mobile forms, and the feature flag gating system
HANDOVER CONCERNS:
- 10 tickets still assigned to him — need to reassign today
- The big one is #4526 (decouple leases from orders) — this is architecturally complex and Doug has context nobody else has
- 3 Rainforest QA E2E test tickets (#4473-4475) could be grouped into one effort for Bea
- #4636 (remove rolled-out feature flags) is a good starter ticket for Bea — low risk, gets her a quick first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VELOCITY — NS BREACH IMPACT
- 25 items closed since Apr 3 — more than it looks, but almost all reactive
- I closed 20: 12 reactive breach fixes (auth failures, subsidiary mismatches, invoice backfill 404s, phone sanitisation, observability) plus 8 NS Audit security items (token revocation, integration role, service account, SSM rotation, credential redaction, pre-release investigation)
- Millicent closed 4: contract brewer order/transfer fixes, Twig runtime error (#4567), Symfony 7→8 upgrade (#4394)
- Doug closed 1 (Safari button fix). Bea hasn't closed any yet — still ramping up, which is expected
- Good news: NS Audit is nearly done — only 4 sub-tasks remain (docs, EKS logging, credential rotation, OAuth planning). I've milestoned them into "April 13-24"
THE NUMBERS:
- Sprint 2 did 47 items in 2 weeks for comparison
- Zero planned Sprint 3 goals have been completed — no Fuel Levy progress, no review backlog cleared
- We have 7 working days left and Day 8 scope freeze is approaching (Thursday)
- Effectively this is a 1-week sprint for any planned work
QUESTION FOR LEADERSHIP: Do we extend Sprint 3 by a week to account for the breach, or accept reduced output and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LOAD &amp; ASSIGNMENTS
- I'm down to 49 open issues from 53 after closing 8 NS Audit items over the weekend. Still well above sustainable (~22 SP/sprint) but trending the right direction
- Only 4 NS Audit sub-tasks remain: #4533 (docs), #4541 (EKS logging), #4543 (credential rotation), #4544 (OAuth planning) — milestoned into "April 13-24"
- Millicent is at 28, down from 30 — she closed the Twig error (#4567) and Symfony 8 upgrade (#4394). Has capacity for FL backend work
- Bea has 33 total but 12 in the current sprint, which is too many for someone onboarding. Recommend trimming to 3-4 realistic targets
- Doug's tickets need reassignment before he leaves — that's a decision we need to make today
- 45 unassigned items include critical FL blockers and the 28 design-feedback tickets from the recent review
KEY POINT: Millicent has capacity. She should take on FL backend work immediately.
KEY POINT: Bea needs fewer items, not more. Focus her on quick wins to build confidence.
KEY POINT: NS Audit nearly done — 8 of 12 sub-tasks closed, 4 remaining milestoned into April 13-24.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PRIORITIES — STATUS CHECK
1. FUEL SURCHARGE (Behind)
- This is the #1 business priority from CEO/COO
- 14 tickets total. The problem: FL-1 through FL-4 (the backend foundation) are UNASSIGNED
- My FL-5 (CRUD API) and FL-6 (NS invoice integration) are blocked until FL-2 and FL-3 are done
- All of Bea's frontend work (FL-7 to FL-10) is blocked on the backend being complete
- DECISION NEEDED: Assign FL-1 to FL-3 to Millicent today. This unblocks the entire chain.
2. ORDERS EXPERIENCE (Progressing)
- Doug built the core — 47 tickets of foundation work. Bea now owns the epic (#4377)
- 28 new design-feedback tickets landed in backlog from a recent design review session
- 3 new sub-epics created: Rentals List improvements, Rental Form improvements, Order Detail improvements
- These are good ideas but they're scope creep risk — we need to pick 3-5 for Sprint 4 and park the rest
3. REFILLS IN CLOUD (Not Started)
- 6 sub-tickets under NS Epic 1. The discovery ticket (#4309) has been sitting since Sprint 1
- It depends on NS Epic 0 Foundation (#4296) which is also still open
- I need to complete the NS-1.1 discovery this sprint to unblock Millicent on the implementation tickets
- Realistic timeline for full implementation: Sprint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 45 UNASSIGNED ITEMS
- These cluster into natural groups, which makes triage much easier
DESIGN FEEDBACK (28 items):
- All 28 were created on April 7 from a single design review session — so they're all the same age
- They sit under 3 parent epics:
  * Rentals List Page (#4587) — 11 tickets: default filters, column config, saved searches, SKU layout, market filter
  * Rental Order Form (#4598) — 8 tickets: merge customer/producer field, transport toggle, SKU display, pricing declutter
  * Order Detail &amp; Workflow (#4606) — 9 tickets: order editing (scheduled + completed), role-based permissions, UI tidy-ups
- 23 are higher-priority, 5 tagged low-priority (mostly UI cosmetics in Order Detail)
- RECOMMENDATION: Triage by epic. Rentals List and Rental Form are pure frontend — good for Bea once she's up to speed. Order Detail has backend dependencies so park those for now.
NS AUDIT (0 unassigned — nearly complete):
- 8 of 12 sub-tasks now closed. The big weekend blitz: TBA rotation (Apr 12), SSM token rotation, pre-release investigation, role permissions check, credential redaction (Apr 13)
- Only 4 sub-tasks remain, all assigned to Rob and milestoned into "April 13-24": #4533 (auth docs), #4541 (EKS audit logging), #4543 (non-NS credential rotation), #4544 (OAuth 2.0 planning)
- This is no longer a backlog concern — it's tracked and paced
FUEL LEVY BACKEND (4 unassigned):
- FL-1 to FL-4 — still the critical blockers. Same message: assign to Millicent.
NETSUITE (3 items):
- #4623 rental_order table not found, #4622 missing item mapping, #4176 billing emails backpopulate
- The first two are post-rollback cleanup issues
BUGS &amp; CHORES (2 items):
- #4213 SignupForm email unused, #3928 consolidate default tenant
- Low priority, good for a quiet sprint day
OTHER (8 items):
- Order Experience Cutover (#4174), cutoff time (#4088), unschedule endpoint (#4108), global search perf (#4250), collection blind spot (#4385) + 3 misc items
- #4250 (global search 11+ seconds) is worth flagging — it's a user-facing performance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 HANDOVER CHECKLIST
- This is the practical stuff we need to nail before Doug walks out
MUST DO:
1. Confirm all 10 open tickets have enough detail for Bea — descriptions, acceptance criteria, any gotchas
2. Deep-dive on #4526 (lease decoupling) — this is the biggest risk. It's architecturally complex and touches how orders and leases are structured. If Doug doesn't explain this, we'll lose weeks figuring it out
3. Rainforest QA test access — make sure credentials and setup docs are in the wiki/SharePoint
4. Handover recordings in SharePoint → Development → Recordings — confirm they're all there and watchable
ASK DOUG:
- Is there any undocumented knowledge about the Orders frontend state management? Any quirks, workarounds, or "don't touch this" areas that aren't in the code comments?
NICE TO HAVE:
- Group the 3 Rainforest QA tickets into one effort — they're related and Bea can tackle them together
- Reassign #4636 (feature flag cleanup) to Bea right now — it's a perfect first ticket, low risk, well-defined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ACTIONS — DECISIONS NEEDED TODAY
1. Reassign Doug's 10 tickets — suggest 7 to Bea (all frontend), 3 QA tickets grouped as one effort
2. Assign FL-1 to FL-4 to Millicent — this is the single most important action. It unblocks the entire Fuel Levy feature chain
3. Pace final 4 NS Audit items — 8 of 12 sub-tasks now closed after the weekend blitz. The remaining 4 (auth docs, EKS logging, credential rotation, OAuth planning) are milestoned into "April 13-24" at ~2 SP/sprint. This is under control now but still needs to not crowd out quarterly priorities
4. Clean Sprint 1 milestone — 10 items still sitting there from mid-March. Move to current sprint or close
5. Triage design-feedback batch — 28 tickets from design review. Pick 3-5 high-impact for Sprint 4, park the rest
6. My scope reduction — down to 49 from 53 after the audit blitz, but still not sustainable. I need to identify 10+ items to defer or delegate. Would appreciate leadership input on what to deprioritise
7. Revised Sprint 3 goals given the lost week:
   - Rob: FL-5, FL-6, fix null billing emails (#4477), upgrade mailchimp (#4436), NS-1.1 discovery
   - Millicent: Start FL-1/FL-2, ship scheduled order updates (#4586), fix Twig error (#4567)
   - Bea: Get first PR merged (#4636 or #4498), then start consignment visibility (#4565) and email indicator (#4369)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FAREWELL
- Take a moment to acknowledge Doug's contribution
- He joined when Orders was just a concept and built the entire frontend from the ground up
- 47 closed tickets in 6 months — the orders table, every CRUD flow, charts, filters, invoicing, mobile forms
- The foundation Bea and the team will be building on for the foreseeable future
- The Convoy reference: the cofounders named the company after the 1978 movie — felt right to send Doug off on his own convoy
- Wish him well on whatever comes next — he's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Shape 1"/>
          <p:cNvSpPr/>
          <p:nvPr/>
        </p:nvSpPr>
        <p:spPr>
          <a:xfrm>
            <a:off x="0" y="1371600"/>
            <a:ext cx="109728" cy="2286000"/>
          </a:xfrm>
          <a:prstGeom prst="rect">
            <a:avLst/>
          </a:prstGeom>
          <a:solidFill>
            <a:srgbClr val="EC1B34"/>
          </a:solidFill>
          <a:ln/>
        </p:spPr>
      </p:sp>
      <p:pic>
        <p:nvPicPr>
          <p:cNvPr id="4" name="Image 0" descr="preencoded.png">    </p:cNvPr>
          <p:cNvPicPr>
            <a:picLocks noChangeAspect="1"/>
          </p:cNvPicPr>
          <p:nvPr/>
        </p:nvPicPr>
        <p:blipFill>
          <a:blip r:embed="rId1"/>
          <a:stretch>
            <a:fillRect/>
          </a:stretch>
        </p:blipFill>
        <p:spPr>
          <a:xfrm>
            <a:off x="6217920" y="274320"/>
            <a:ext cx="2286000" cy="457200"/>
          </a:xfrm>
          <a:prstGeom prst="rect">
            <a:avLst/>
          </a:prstGeom>
        </p:spPr>
      </p:pic>
      <p:sp>
        <p:nvSpPr>
          <p:cNvPr id="5" name="Text 2"/>
          <p:cNvSpPr/>
          <p:nvPr/>
        </p:nvSpPr>
        <p:spPr>
          <a:xfrm>
            <a:off x="731520" y="137160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Monday Meeting Prep</a:t>
            </a:r>
            <a:endParaRPr lang="en-US" sz="4400" dirty="0"/>
          </a:p>
        </p:txBody>
      </p:sp>
      <p:sp>
        <p:nvSpPr>
          <p:cNvPr id="6" name="Text 3"/>
          <p:cNvSpPr/>
          <p:nvPr/>
        </p:nvSpPr>
        <p:spPr>
          <a:xfrm>
            <a:off x="731520" y="2468880"/>
            <a:ext cx="7680960" cy="548640"/>
          </a:xfrm>
          <a:prstGeom prst="rect">
            <a:avLst/>
          </a:prstGeom>
          <a:noFill/>
          <a:ln/>
        </p:spPr>
        <p:txBody>
          <a:bodyPr wrap="square" lIns="0" tIns="0" rIns="0" bIns="0" rtlCol="0" anchor="ctr"/>
          <a:lstStyle/>
          <a:p>
            <a:pPr indent="0" marL="0">
              <a:buNone/>
            </a:pPr>
            <a:r>
              <a:rPr lang="en-US" sz="1800" dirty="0">
                <a:solidFill>
                  <a:srgbClr val="C8CDD0"/>
                </a:solidFill>
                <a:latin typeface="Calibri" pitchFamily="34" charset="0"/>
                <a:ea typeface="Calibri" pitchFamily="34" charset="-122"/>
                <a:cs typeface="Calibri" pitchFamily="34" charset="-120"/>
              </a:rPr>
              <a:t>Sprint 3 Status  ·  Doug Farewell  ·  Quarterly Priorities</a:t>
            </a:r>
            <a:endParaRPr lang="en-US" sz="1800" dirty="0"/>
          </a:p>
        </p:txBody>
      </p:sp>
      <p:sp>
        <p:nvSpPr>
          <p:cNvPr id="7" name="Text 4"/>
          <p:cNvSpPr/>
          <p:nvPr/>
        </p:nvSpPr>
        <p:spPr>
          <a:xfrm>
            <a:off x="731520" y="3200400"/>
            <a:ext cx="7680960" cy="457200"/>
          </a:xfrm>
          <a:prstGeom prst="rect">
            <a:avLst/>
          </a:prstGeom>
          <a:noFill/>
          <a:ln/>
        </p:spPr>
        <p:txBody>
          <a:bodyPr wrap="square" lIns="0" tIns="0" rIns="0" bIns="0" rtlCol="0" anchor="ctr"/>
          <a:lstStyle/>
          <a:p>
            <a:pPr indent="0" marL="0">
              <a:buNone/>
            </a:pPr>
            <a:r>
              <a:rPr lang="en-US" sz="1400" dirty="0">
                <a:solidFill>
                  <a:srgbClr val="7A8A96"/>
                </a:solidFill>
                <a:latin typeface="Calibri" pitchFamily="34" charset="0"/>
                <a:ea typeface="Calibri" pitchFamily="34" charset="-122"/>
                <a:cs typeface="Calibri" pitchFamily="34" charset="-120"/>
              </a:rPr>
              <a:t>April 13, 2026</a:t>
            </a:r>
            <a:endParaRPr lang="en-US" sz="1400" dirty="0"/>
          </a:p>
        </p:txBody>
      </p:sp>
      <p:pic>
        <p:nvPicPr>
          <p:cNvPr id="8" name="Image 1" descr="preencoded.png">    </p:cNvPr>
          <p:cNvPicPr>
            <a:picLocks noChangeAspect="1"/>
          </p:cNvPicPr>
          <p:nvPr/>
        </p:nvPicPr>
        <p:blipFill>
          <a:blip r:embed="rId2"/>
          <a:stretch>
            <a:fillRect/>
          </a:stretch>
        </p:blipFill>
        <p:spPr>
          <a:xfrm>
            <a:off x="7863840" y="3657600"/>
            <a:ext cx="640080" cy="1005840"/>
          </a:xfrm>
          <a:prstGeom prst="rect">
            <a:avLst/>
          </a:prstGeom>
        </p:spPr>
      </p:pic>
      <p:pic>
        <p:nvPicPr>
          <p:cNvPr id="10" name="Image 2" descr="preencoded.png">    </p:cNvPr>
          <p:cNvPicPr>
            <a:picLocks noChangeAspect="1"/>
          </p:cNvPicPr>
          <p:nvPr/>
        </p:nvPicPr>
        <p:blipFill>
          <a:blip r:embed="rId3"/>
          <a:stretch>
            <a:fillRect/>
          </a:stretch>
        </p:blipFill>
        <p:spPr>
          <a:xfrm>
            <a:off x="365760" y="4617720"/>
            <a:ext cx="228600" cy="365760"/>
          </a:xfrm>
          <a:prstGeom prst="rect">
            <a:avLst/>
          </a:prstGeom>
        </p:spPr>
      </p:pic>
      <p:sp>
        <p:nvSpPr>
          <p:cNvPr id="11"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2"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Montserrat" pitchFamily="34" charset="0"/>
                <a:ea typeface="Montserrat" pitchFamily="34" charset="-122"/>
                <a:cs typeface="Montserrat" pitchFamily="34" charset="-120"/>
              </a:rPr>
              <a:t>Agenda</a:t>
            </a:r>
            <a:endParaRPr lang="en-US" sz="3400" dirty="0"/>
          </a:p>
        </p:txBody>
      </p:sp>
      <p:sp>
        <p:nvSpPr>
          <p:cNvPr id="4" name="Shape 2"/>
          <p:cNvSpPr/>
          <p:nvPr/>
        </p:nvSpPr>
        <p:spPr>
          <a:xfrm>
            <a:off x="731520" y="1143000"/>
            <a:ext cx="384048" cy="384048"/>
          </a:xfrm>
          <a:prstGeom prst="ellipse">
            <a:avLst/>
          </a:prstGeom>
          <a:solidFill>
            <a:srgbClr val="EC1B34"/>
          </a:solidFill>
          <a:ln/>
        </p:spPr>
      </p:sp>
      <p:sp>
        <p:nvSpPr>
          <p:cNvPr id="5" name="Text 3"/>
          <p:cNvSpPr/>
          <p:nvPr/>
        </p:nvSpPr>
        <p:spPr>
          <a:xfrm>
            <a:off x="731520" y="11430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25880" y="112471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Doug's Legacy</a:t>
            </a:r>
            <a:endParaRPr lang="en-US" sz="1500" dirty="0"/>
          </a:p>
        </p:txBody>
      </p:sp>
      <p:sp>
        <p:nvSpPr>
          <p:cNvPr id="7" name="Text 5"/>
          <p:cNvSpPr/>
          <p:nvPr/>
        </p:nvSpPr>
        <p:spPr>
          <a:xfrm>
            <a:off x="1325880" y="134416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47 closed tickets, 10 open for handover</a:t>
            </a:r>
            <a:endParaRPr lang="en-US" sz="1100" dirty="0"/>
          </a:p>
        </p:txBody>
      </p:sp>
      <p:sp>
        <p:nvSpPr>
          <p:cNvPr id="8" name="Shape 6"/>
          <p:cNvSpPr/>
          <p:nvPr/>
        </p:nvSpPr>
        <p:spPr>
          <a:xfrm>
            <a:off x="731520" y="1673352"/>
            <a:ext cx="384048" cy="384048"/>
          </a:xfrm>
          <a:prstGeom prst="ellipse">
            <a:avLst/>
          </a:prstGeom>
          <a:solidFill>
            <a:srgbClr val="EC1B34"/>
          </a:solidFill>
          <a:ln/>
        </p:spPr>
      </p:sp>
      <p:sp>
        <p:nvSpPr>
          <p:cNvPr id="9" name="Text 7"/>
          <p:cNvSpPr/>
          <p:nvPr/>
        </p:nvSpPr>
        <p:spPr>
          <a:xfrm>
            <a:off x="7315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165506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Sprint 3 Velocity</a:t>
            </a:r>
            <a:endParaRPr lang="en-US" sz="1500" dirty="0"/>
          </a:p>
        </p:txBody>
      </p:sp>
      <p:sp>
        <p:nvSpPr>
          <p:cNvPr id="11" name="Text 9"/>
          <p:cNvSpPr/>
          <p:nvPr/>
        </p:nvSpPr>
        <p:spPr>
          <a:xfrm>
            <a:off x="1325880" y="187452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NS breach impact, what's actually moved</a:t>
            </a:r>
            <a:endParaRPr lang="en-US" sz="1100" dirty="0"/>
          </a:p>
        </p:txBody>
      </p:sp>
      <p:sp>
        <p:nvSpPr>
          <p:cNvPr id="12" name="Shape 10"/>
          <p:cNvSpPr/>
          <p:nvPr/>
        </p:nvSpPr>
        <p:spPr>
          <a:xfrm>
            <a:off x="731520" y="2203704"/>
            <a:ext cx="384048" cy="384048"/>
          </a:xfrm>
          <a:prstGeom prst="ellipse">
            <a:avLst/>
          </a:prstGeom>
          <a:solidFill>
            <a:srgbClr val="EC1B34"/>
          </a:solidFill>
          <a:ln/>
        </p:spPr>
      </p:sp>
      <p:sp>
        <p:nvSpPr>
          <p:cNvPr id="13" name="Text 11"/>
          <p:cNvSpPr/>
          <p:nvPr/>
        </p:nvSpPr>
        <p:spPr>
          <a:xfrm>
            <a:off x="731520" y="22037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325880" y="2185416"/>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Current Assignments</a:t>
            </a:r>
            <a:endParaRPr lang="en-US" sz="1500" dirty="0"/>
          </a:p>
        </p:txBody>
      </p:sp>
      <p:sp>
        <p:nvSpPr>
          <p:cNvPr id="15" name="Text 13"/>
          <p:cNvSpPr/>
          <p:nvPr/>
        </p:nvSpPr>
        <p:spPr>
          <a:xfrm>
            <a:off x="1325880" y="2404872"/>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What's underway, what's blocked</a:t>
            </a:r>
            <a:endParaRPr lang="en-US" sz="1100" dirty="0"/>
          </a:p>
        </p:txBody>
      </p:sp>
      <p:sp>
        <p:nvSpPr>
          <p:cNvPr id="16" name="Shape 14"/>
          <p:cNvSpPr/>
          <p:nvPr/>
        </p:nvSpPr>
        <p:spPr>
          <a:xfrm>
            <a:off x="731520" y="2734056"/>
            <a:ext cx="384048" cy="384048"/>
          </a:xfrm>
          <a:prstGeom prst="ellipse">
            <a:avLst/>
          </a:prstGeom>
          <a:solidFill>
            <a:srgbClr val="EC1B34"/>
          </a:solidFill>
          <a:ln/>
        </p:spPr>
      </p:sp>
      <p:sp>
        <p:nvSpPr>
          <p:cNvPr id="17" name="Text 15"/>
          <p:cNvSpPr/>
          <p:nvPr/>
        </p:nvSpPr>
        <p:spPr>
          <a:xfrm>
            <a:off x="73152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325880" y="2715768"/>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Quarterly Priorities</a:t>
            </a:r>
            <a:endParaRPr lang="en-US" sz="1500" dirty="0"/>
          </a:p>
        </p:txBody>
      </p:sp>
      <p:sp>
        <p:nvSpPr>
          <p:cNvPr id="19" name="Text 17"/>
          <p:cNvSpPr/>
          <p:nvPr/>
        </p:nvSpPr>
        <p:spPr>
          <a:xfrm>
            <a:off x="1325880" y="2935224"/>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Fuel Levy · Orders Experience · Refills</a:t>
            </a:r>
            <a:endParaRPr lang="en-US" sz="1100" dirty="0"/>
          </a:p>
        </p:txBody>
      </p:sp>
      <p:sp>
        <p:nvSpPr>
          <p:cNvPr id="20" name="Shape 18"/>
          <p:cNvSpPr/>
          <p:nvPr/>
        </p:nvSpPr>
        <p:spPr>
          <a:xfrm>
            <a:off x="731520" y="3264408"/>
            <a:ext cx="384048" cy="384048"/>
          </a:xfrm>
          <a:prstGeom prst="ellipse">
            <a:avLst/>
          </a:prstGeom>
          <a:solidFill>
            <a:srgbClr val="EC1B34"/>
          </a:solidFill>
          <a:ln/>
        </p:spPr>
      </p:sp>
      <p:sp>
        <p:nvSpPr>
          <p:cNvPr id="21" name="Text 19"/>
          <p:cNvSpPr/>
          <p:nvPr/>
        </p:nvSpPr>
        <p:spPr>
          <a:xfrm>
            <a:off x="731520" y="326440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325880" y="3246120"/>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Backlog &amp; Grouping</a:t>
            </a:r>
            <a:endParaRPr lang="en-US" sz="1500" dirty="0"/>
          </a:p>
        </p:txBody>
      </p:sp>
      <p:sp>
        <p:nvSpPr>
          <p:cNvPr id="23" name="Text 21"/>
          <p:cNvSpPr/>
          <p:nvPr/>
        </p:nvSpPr>
        <p:spPr>
          <a:xfrm>
            <a:off x="1325880" y="3465576"/>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45 unassigned items, grouping opportunities</a:t>
            </a:r>
            <a:endParaRPr lang="en-US" sz="1100" dirty="0"/>
          </a:p>
        </p:txBody>
      </p:sp>
      <p:sp>
        <p:nvSpPr>
          <p:cNvPr id="24" name="Shape 22"/>
          <p:cNvSpPr/>
          <p:nvPr/>
        </p:nvSpPr>
        <p:spPr>
          <a:xfrm>
            <a:off x="731520" y="3794760"/>
            <a:ext cx="384048" cy="384048"/>
          </a:xfrm>
          <a:prstGeom prst="ellipse">
            <a:avLst/>
          </a:prstGeom>
          <a:solidFill>
            <a:srgbClr val="EC1B34"/>
          </a:solidFill>
          <a:ln/>
        </p:spPr>
      </p:sp>
      <p:sp>
        <p:nvSpPr>
          <p:cNvPr id="25" name="Text 23"/>
          <p:cNvSpPr/>
          <p:nvPr/>
        </p:nvSpPr>
        <p:spPr>
          <a:xfrm>
            <a:off x="731520" y="37947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1325880" y="377647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 Handover Checklist</a:t>
            </a:r>
            <a:endParaRPr lang="en-US" sz="1500" dirty="0"/>
          </a:p>
        </p:txBody>
      </p:sp>
      <p:sp>
        <p:nvSpPr>
          <p:cNvPr id="27" name="Text 25"/>
          <p:cNvSpPr/>
          <p:nvPr/>
        </p:nvSpPr>
        <p:spPr>
          <a:xfrm>
            <a:off x="1325880" y="399592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Must-dos before Monday close</a:t>
            </a:r>
            <a:endParaRPr lang="en-US" sz="1100" dirty="0"/>
          </a:p>
        </p:txBody>
      </p:sp>
      <p:sp>
        <p:nvSpPr>
          <p:cNvPr id="28" name="Shape 26"/>
          <p:cNvSpPr/>
          <p:nvPr/>
        </p:nvSpPr>
        <p:spPr>
          <a:xfrm>
            <a:off x="731520" y="4325112"/>
            <a:ext cx="384048" cy="384048"/>
          </a:xfrm>
          <a:prstGeom prst="ellipse">
            <a:avLst/>
          </a:prstGeom>
          <a:solidFill>
            <a:srgbClr val="EC1B34"/>
          </a:solidFill>
          <a:ln/>
        </p:spPr>
      </p:sp>
      <p:sp>
        <p:nvSpPr>
          <p:cNvPr id="29" name="Text 27"/>
          <p:cNvSpPr/>
          <p:nvPr/>
        </p:nvSpPr>
        <p:spPr>
          <a:xfrm>
            <a:off x="731520" y="432511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1325880" y="430682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Recommended Actions</a:t>
            </a:r>
            <a:endParaRPr lang="en-US" sz="1500" dirty="0"/>
          </a:p>
        </p:txBody>
      </p:sp>
      <p:sp>
        <p:nvSpPr>
          <p:cNvPr id="31" name="Text 29"/>
          <p:cNvSpPr/>
          <p:nvPr/>
        </p:nvSpPr>
        <p:spPr>
          <a:xfrm>
            <a:off x="1325880" y="452628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7 decisions for Monday</a:t>
            </a:r>
            <a:endParaRPr lang="en-US" sz="1100" dirty="0"/>
          </a:p>
        </p:txBody>
      </p:sp>
      <p:pic>
        <p:nvPicPr>
          <p:cNvPr id="3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4" name="Text 3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5" name="Text 3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Doug's Legacy — Orders Frontend</a:t>
            </a:r>
            <a:endParaRPr lang="en-US" sz="2800" dirty="0"/>
          </a:p>
        </p:txBody>
      </p:sp>
      <p:sp>
        <p:nvSpPr>
          <p:cNvPr id="4" name="Shape 2"/>
          <p:cNvSpPr/>
          <p:nvPr/>
        </p:nvSpPr>
        <p:spPr>
          <a:xfrm>
            <a:off x="73152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51560"/>
            <a:ext cx="2286000" cy="36576"/>
          </a:xfrm>
          <a:prstGeom prst="rect">
            <a:avLst/>
          </a:prstGeom>
          <a:solidFill>
            <a:srgbClr val="22C55E"/>
          </a:solidFill>
          <a:ln/>
        </p:spPr>
      </p:sp>
      <p:sp>
        <p:nvSpPr>
          <p:cNvPr id="6" name="Text 4"/>
          <p:cNvSpPr/>
          <p:nvPr/>
        </p:nvSpPr>
        <p:spPr>
          <a:xfrm>
            <a:off x="731520" y="1143000"/>
            <a:ext cx="2286000" cy="502920"/>
          </a:xfrm>
          <a:prstGeom prst="rect">
            <a:avLst/>
          </a:prstGeom>
          <a:noFill/>
          <a:ln/>
        </p:spPr>
        <p:txBody>
          <a:bodyPr wrap="square" lIns="0" tIns="0" rIns="0" bIns="0" rtlCol="0" anchor="ctr"/>
          <a:lstStyle/>
          <a:p>
            <a:pPr algn="ctr" indent="0" marL="0">
              <a:buNone/>
            </a:pPr>
            <a:r>
              <a:rPr lang="en-US" sz="3600" b="1" dirty="0">
                <a:solidFill>
                  <a:srgbClr val="22C55E"/>
                </a:solidFill>
                <a:latin typeface="Calibri" pitchFamily="34" charset="0"/>
                <a:ea typeface="Calibri" pitchFamily="34" charset="-122"/>
                <a:cs typeface="Calibri" pitchFamily="34" charset="-120"/>
              </a:rPr>
              <a:t>47</a:t>
            </a:r>
            <a:endParaRPr lang="en-US" sz="3600" dirty="0"/>
          </a:p>
        </p:txBody>
      </p:sp>
      <p:sp>
        <p:nvSpPr>
          <p:cNvPr id="7" name="Text 5"/>
          <p:cNvSpPr/>
          <p:nvPr/>
        </p:nvSpPr>
        <p:spPr>
          <a:xfrm>
            <a:off x="73152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Issues Closed</a:t>
            </a:r>
            <a:endParaRPr lang="en-US" sz="1100" dirty="0"/>
          </a:p>
        </p:txBody>
      </p:sp>
      <p:sp>
        <p:nvSpPr>
          <p:cNvPr id="8" name="Shape 6"/>
          <p:cNvSpPr/>
          <p:nvPr/>
        </p:nvSpPr>
        <p:spPr>
          <a:xfrm>
            <a:off x="338328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9" name="Shape 7"/>
          <p:cNvSpPr/>
          <p:nvPr/>
        </p:nvSpPr>
        <p:spPr>
          <a:xfrm>
            <a:off x="3383280" y="1051560"/>
            <a:ext cx="2286000" cy="36576"/>
          </a:xfrm>
          <a:prstGeom prst="rect">
            <a:avLst/>
          </a:prstGeom>
          <a:solidFill>
            <a:srgbClr val="F59E0B"/>
          </a:solidFill>
          <a:ln/>
        </p:spPr>
      </p:sp>
      <p:sp>
        <p:nvSpPr>
          <p:cNvPr id="10" name="Text 8"/>
          <p:cNvSpPr/>
          <p:nvPr/>
        </p:nvSpPr>
        <p:spPr>
          <a:xfrm>
            <a:off x="3383280" y="1143000"/>
            <a:ext cx="2286000" cy="50292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10</a:t>
            </a:r>
            <a:endParaRPr lang="en-US" sz="3600" dirty="0"/>
          </a:p>
        </p:txBody>
      </p:sp>
      <p:sp>
        <p:nvSpPr>
          <p:cNvPr id="11" name="Text 9"/>
          <p:cNvSpPr/>
          <p:nvPr/>
        </p:nvSpPr>
        <p:spPr>
          <a:xfrm>
            <a:off x="338328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Still Open</a:t>
            </a:r>
            <a:endParaRPr lang="en-US" sz="1100" dirty="0"/>
          </a:p>
        </p:txBody>
      </p:sp>
      <p:sp>
        <p:nvSpPr>
          <p:cNvPr id="12" name="Shape 10"/>
          <p:cNvSpPr/>
          <p:nvPr/>
        </p:nvSpPr>
        <p:spPr>
          <a:xfrm>
            <a:off x="603504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3" name="Shape 11"/>
          <p:cNvSpPr/>
          <p:nvPr/>
        </p:nvSpPr>
        <p:spPr>
          <a:xfrm>
            <a:off x="6035040" y="1051560"/>
            <a:ext cx="2286000" cy="36576"/>
          </a:xfrm>
          <a:prstGeom prst="rect">
            <a:avLst/>
          </a:prstGeom>
          <a:solidFill>
            <a:srgbClr val="EC1B34"/>
          </a:solidFill>
          <a:ln/>
        </p:spPr>
      </p:sp>
      <p:sp>
        <p:nvSpPr>
          <p:cNvPr id="14" name="Text 12"/>
          <p:cNvSpPr/>
          <p:nvPr/>
        </p:nvSpPr>
        <p:spPr>
          <a:xfrm>
            <a:off x="6035040" y="1143000"/>
            <a:ext cx="2286000" cy="502920"/>
          </a:xfrm>
          <a:prstGeom prst="rect">
            <a:avLst/>
          </a:prstGeom>
          <a:noFill/>
          <a:ln/>
        </p:spPr>
        <p:txBody>
          <a:bodyPr wrap="square" lIns="0" tIns="0" rIns="0" bIns="0" rtlCol="0" anchor="ctr"/>
          <a:lstStyle/>
          <a:p>
            <a:pPr algn="ctr" indent="0" marL="0">
              <a:buNone/>
            </a:pPr>
            <a:r>
              <a:rPr lang="en-US" sz="3600" b="1" dirty="0">
                <a:solidFill>
                  <a:srgbClr val="EC1B34"/>
                </a:solidFill>
                <a:latin typeface="Calibri" pitchFamily="34" charset="0"/>
                <a:ea typeface="Calibri" pitchFamily="34" charset="-122"/>
                <a:cs typeface="Calibri" pitchFamily="34" charset="-120"/>
              </a:rPr>
              <a:t>6</a:t>
            </a:r>
            <a:endParaRPr lang="en-US" sz="3600" dirty="0"/>
          </a:p>
        </p:txBody>
      </p:sp>
      <p:sp>
        <p:nvSpPr>
          <p:cNvPr id="15" name="Text 13"/>
          <p:cNvSpPr/>
          <p:nvPr/>
        </p:nvSpPr>
        <p:spPr>
          <a:xfrm>
            <a:off x="603504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Months Tenure</a:t>
            </a:r>
            <a:endParaRPr lang="en-US" sz="1100" dirty="0"/>
          </a:p>
        </p:txBody>
      </p:sp>
      <p:sp>
        <p:nvSpPr>
          <p:cNvPr id="16" name="Text 14"/>
          <p:cNvSpPr/>
          <p:nvPr/>
        </p:nvSpPr>
        <p:spPr>
          <a:xfrm>
            <a:off x="731520" y="228600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Key Deliverables</a:t>
            </a:r>
            <a:endParaRPr lang="en-US" sz="1500" dirty="0"/>
          </a:p>
        </p:txBody>
      </p:sp>
      <p:sp>
        <p:nvSpPr>
          <p:cNvPr id="17" name="Text 15"/>
          <p:cNvSpPr/>
          <p:nvPr/>
        </p:nvSpPr>
        <p:spPr>
          <a:xfrm>
            <a:off x="73152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Orders table, routing, CRUD,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 pricing, invoicing, charts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Filtering, exports, internal notes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YoY comparison charts</a:t>
            </a:r>
            <a:endParaRPr lang="en-US" sz="1200" dirty="0"/>
          </a:p>
        </p:txBody>
      </p:sp>
      <p:sp>
        <p:nvSpPr>
          <p:cNvPr id="18" name="Text 16"/>
          <p:cNvSpPr/>
          <p:nvPr/>
        </p:nvSpPr>
        <p:spPr>
          <a:xfrm>
            <a:off x="475488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Organisation side panel &amp; orders list</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Mobile responsive forms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Collections UI +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Feature flag system for orders</a:t>
            </a:r>
            <a:endParaRPr lang="en-US" sz="1200" dirty="0"/>
          </a:p>
        </p:txBody>
      </p:sp>
      <p:sp>
        <p:nvSpPr>
          <p:cNvPr id="19" name="Shape 17"/>
          <p:cNvSpPr/>
          <p:nvPr/>
        </p:nvSpPr>
        <p:spPr>
          <a:xfrm>
            <a:off x="731520" y="4023360"/>
            <a:ext cx="7680960" cy="502920"/>
          </a:xfrm>
          <a:prstGeom prst="rect">
            <a:avLst/>
          </a:prstGeom>
          <a:solidFill>
            <a:srgbClr val="1A2530"/>
          </a:solidFill>
          <a:ln/>
        </p:spPr>
      </p:sp>
      <p:sp>
        <p:nvSpPr>
          <p:cNvPr id="20" name="Shape 18"/>
          <p:cNvSpPr/>
          <p:nvPr/>
        </p:nvSpPr>
        <p:spPr>
          <a:xfrm>
            <a:off x="731520" y="4023360"/>
            <a:ext cx="54864" cy="502920"/>
          </a:xfrm>
          <a:prstGeom prst="rect">
            <a:avLst/>
          </a:prstGeom>
          <a:solidFill>
            <a:srgbClr val="F59E0B"/>
          </a:solidFill>
          <a:ln/>
        </p:spPr>
      </p:sp>
      <p:sp>
        <p:nvSpPr>
          <p:cNvPr id="21" name="Text 19"/>
          <p:cNvSpPr/>
          <p:nvPr/>
        </p:nvSpPr>
        <p:spPr>
          <a:xfrm>
            <a:off x="1005840" y="4023360"/>
            <a:ext cx="7223760" cy="5029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Handover: </a:t>
            </a:r>
            <a:pPr indent="0" marL="0">
              <a:buNone/>
            </a:pPr>
            <a:r>
              <a:rPr lang="en-US" sz="1200" dirty="0">
                <a:solidFill>
                  <a:srgbClr val="E4E9EC"/>
                </a:solidFill>
                <a:latin typeface="Calibri" pitchFamily="34" charset="0"/>
                <a:ea typeface="Calibri" pitchFamily="34" charset="-122"/>
                <a:cs typeface="Calibri" pitchFamily="34" charset="-120"/>
              </a:rPr>
              <a:t>10 tickets need reassignment — lease decoupling (#4526) needs special discussion with Doug</a:t>
            </a:r>
            <a:endParaRPr lang="en-US" sz="1200" dirty="0"/>
          </a:p>
        </p:txBody>
      </p:sp>
      <p:pic>
        <p:nvPicPr>
          <p:cNvPr id="2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4" name="Text 2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5" name="Text 2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Sprint 3 Velocity — NS Breach Impact</a:t>
            </a:r>
            <a:endParaRPr lang="en-US" sz="2800" dirty="0"/>
          </a:p>
        </p:txBody>
      </p:sp>
      <p:sp>
        <p:nvSpPr>
          <p:cNvPr id="4" name="Shape 2"/>
          <p:cNvSpPr/>
          <p:nvPr/>
        </p:nvSpPr>
        <p:spPr>
          <a:xfrm>
            <a:off x="731520" y="1005840"/>
            <a:ext cx="7680960" cy="502920"/>
          </a:xfrm>
          <a:prstGeom prst="rect">
            <a:avLst/>
          </a:prstGeom>
          <a:solidFill>
            <a:srgbClr val="2D1215"/>
          </a:solidFill>
          <a:ln/>
        </p:spPr>
      </p:sp>
      <p:sp>
        <p:nvSpPr>
          <p:cNvPr id="5" name="Shape 3"/>
          <p:cNvSpPr/>
          <p:nvPr/>
        </p:nvSpPr>
        <p:spPr>
          <a:xfrm>
            <a:off x="731520" y="1005840"/>
            <a:ext cx="54864" cy="502920"/>
          </a:xfrm>
          <a:prstGeom prst="rect">
            <a:avLst/>
          </a:prstGeom>
          <a:solidFill>
            <a:srgbClr val="EC1B34"/>
          </a:solidFill>
          <a:ln/>
        </p:spPr>
      </p:sp>
      <p:sp>
        <p:nvSpPr>
          <p:cNvPr id="6" name="Text 4"/>
          <p:cNvSpPr/>
          <p:nvPr/>
        </p:nvSpPr>
        <p:spPr>
          <a:xfrm>
            <a:off x="1005840" y="1005840"/>
            <a:ext cx="7223760" cy="502920"/>
          </a:xfrm>
          <a:prstGeom prst="rect">
            <a:avLst/>
          </a:prstGeom>
          <a:noFill/>
          <a:ln/>
        </p:spPr>
        <p:txBody>
          <a:bodyPr wrap="square" rtlCol="0" anchor="ctr"/>
          <a:lstStyle/>
          <a:p>
            <a:pPr indent="0" marL="0">
              <a:buNone/>
            </a:pPr>
            <a:r>
              <a:rPr lang="en-US" sz="1200" b="1" dirty="0">
                <a:solidFill>
                  <a:srgbClr val="FF3D54"/>
                </a:solidFill>
                <a:latin typeface="Calibri" pitchFamily="34" charset="0"/>
                <a:ea typeface="Calibri" pitchFamily="34" charset="-122"/>
                <a:cs typeface="Calibri" pitchFamily="34" charset="-120"/>
              </a:rPr>
              <a:t>Week 1 lost to NS breach recovery </a:t>
            </a:r>
            <a:pPr indent="0" marL="0">
              <a:buNone/>
            </a:pPr>
            <a:r>
              <a:rPr lang="en-US" sz="1200" dirty="0">
                <a:solidFill>
                  <a:srgbClr val="E4E9EC"/>
                </a:solidFill>
                <a:latin typeface="Calibri" pitchFamily="34" charset="0"/>
                <a:ea typeface="Calibri" pitchFamily="34" charset="-122"/>
                <a:cs typeface="Calibri" pitchFamily="34" charset="-120"/>
              </a:rPr>
              <a:t>— 20 of 25 closed items were Rob's breach/audit work</a:t>
            </a:r>
            <a:endParaRPr lang="en-US" sz="1200" dirty="0"/>
          </a:p>
        </p:txBody>
      </p:sp>
      <p:sp>
        <p:nvSpPr>
          <p:cNvPr id="7" name="Shape 5"/>
          <p:cNvSpPr/>
          <p:nvPr/>
        </p:nvSpPr>
        <p:spPr>
          <a:xfrm>
            <a:off x="73152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8" name="Shape 6"/>
          <p:cNvSpPr/>
          <p:nvPr/>
        </p:nvSpPr>
        <p:spPr>
          <a:xfrm>
            <a:off x="731520" y="1737360"/>
            <a:ext cx="1737360" cy="36576"/>
          </a:xfrm>
          <a:prstGeom prst="rect">
            <a:avLst/>
          </a:prstGeom>
          <a:solidFill>
            <a:srgbClr val="C8CDD0"/>
          </a:solidFill>
          <a:ln/>
        </p:spPr>
      </p:sp>
      <p:sp>
        <p:nvSpPr>
          <p:cNvPr id="9" name="Text 7"/>
          <p:cNvSpPr/>
          <p:nvPr/>
        </p:nvSpPr>
        <p:spPr>
          <a:xfrm>
            <a:off x="731520" y="1810512"/>
            <a:ext cx="1737360" cy="502920"/>
          </a:xfrm>
          <a:prstGeom prst="rect">
            <a:avLst/>
          </a:prstGeom>
          <a:noFill/>
          <a:ln/>
        </p:spPr>
        <p:txBody>
          <a:bodyPr wrap="square" lIns="0" tIns="0" rIns="0" bIns="0" rtlCol="0" anchor="ctr"/>
          <a:lstStyle/>
          <a:p>
            <a:pPr algn="ctr" indent="0" marL="0">
              <a:buNone/>
            </a:pPr>
            <a:r>
              <a:rPr lang="en-US" sz="3400" b="1" dirty="0">
                <a:solidFill>
                  <a:srgbClr val="C8CDD0"/>
                </a:solidFill>
                <a:latin typeface="Calibri" pitchFamily="34" charset="0"/>
                <a:ea typeface="Calibri" pitchFamily="34" charset="-122"/>
                <a:cs typeface="Calibri" pitchFamily="34" charset="-120"/>
              </a:rPr>
              <a:t>25</a:t>
            </a:r>
            <a:endParaRPr lang="en-US" sz="3400" dirty="0"/>
          </a:p>
        </p:txBody>
      </p:sp>
      <p:sp>
        <p:nvSpPr>
          <p:cNvPr id="10" name="Text 8"/>
          <p:cNvSpPr/>
          <p:nvPr/>
        </p:nvSpPr>
        <p:spPr>
          <a:xfrm>
            <a:off x="73152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Items Closed</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(since Apr 3)</a:t>
            </a:r>
            <a:endParaRPr lang="en-US" sz="1000" dirty="0"/>
          </a:p>
        </p:txBody>
      </p:sp>
      <p:sp>
        <p:nvSpPr>
          <p:cNvPr id="11" name="Shape 9"/>
          <p:cNvSpPr/>
          <p:nvPr/>
        </p:nvSpPr>
        <p:spPr>
          <a:xfrm>
            <a:off x="274320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2743200" y="1737360"/>
            <a:ext cx="1737360" cy="36576"/>
          </a:xfrm>
          <a:prstGeom prst="rect">
            <a:avLst/>
          </a:prstGeom>
          <a:solidFill>
            <a:srgbClr val="EC1B34"/>
          </a:solidFill>
          <a:ln/>
        </p:spPr>
      </p:sp>
      <p:sp>
        <p:nvSpPr>
          <p:cNvPr id="13" name="Text 11"/>
          <p:cNvSpPr/>
          <p:nvPr/>
        </p:nvSpPr>
        <p:spPr>
          <a:xfrm>
            <a:off x="2743200" y="1810512"/>
            <a:ext cx="1737360" cy="502920"/>
          </a:xfrm>
          <a:prstGeom prst="rect">
            <a:avLst/>
          </a:prstGeom>
          <a:noFill/>
          <a:ln/>
        </p:spPr>
        <p:txBody>
          <a:bodyPr wrap="square" lIns="0" tIns="0" rIns="0" bIns="0" rtlCol="0" anchor="ctr"/>
          <a:lstStyle/>
          <a:p>
            <a:pPr algn="ctr" indent="0" marL="0">
              <a:buNone/>
            </a:pPr>
            <a:r>
              <a:rPr lang="en-US" sz="3400" b="1" dirty="0">
                <a:solidFill>
                  <a:srgbClr val="EC1B34"/>
                </a:solidFill>
                <a:latin typeface="Calibri" pitchFamily="34" charset="0"/>
                <a:ea typeface="Calibri" pitchFamily="34" charset="-122"/>
                <a:cs typeface="Calibri" pitchFamily="34" charset="-120"/>
              </a:rPr>
              <a:t>20</a:t>
            </a:r>
            <a:endParaRPr lang="en-US" sz="3400" dirty="0"/>
          </a:p>
        </p:txBody>
      </p:sp>
      <p:sp>
        <p:nvSpPr>
          <p:cNvPr id="14" name="Text 12"/>
          <p:cNvSpPr/>
          <p:nvPr/>
        </p:nvSpPr>
        <p:spPr>
          <a:xfrm>
            <a:off x="274320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Rob — 12 Breach</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+ 8 NS Audit</a:t>
            </a:r>
            <a:endParaRPr lang="en-US" sz="1000" dirty="0"/>
          </a:p>
        </p:txBody>
      </p:sp>
      <p:sp>
        <p:nvSpPr>
          <p:cNvPr id="15" name="Shape 13"/>
          <p:cNvSpPr/>
          <p:nvPr/>
        </p:nvSpPr>
        <p:spPr>
          <a:xfrm>
            <a:off x="475488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4754880" y="1737360"/>
            <a:ext cx="1737360" cy="36576"/>
          </a:xfrm>
          <a:prstGeom prst="rect">
            <a:avLst/>
          </a:prstGeom>
          <a:solidFill>
            <a:srgbClr val="F59E0B"/>
          </a:solidFill>
          <a:ln/>
        </p:spPr>
      </p:sp>
      <p:sp>
        <p:nvSpPr>
          <p:cNvPr id="17" name="Text 15"/>
          <p:cNvSpPr/>
          <p:nvPr/>
        </p:nvSpPr>
        <p:spPr>
          <a:xfrm>
            <a:off x="4754880" y="1810512"/>
            <a:ext cx="1737360" cy="502920"/>
          </a:xfrm>
          <a:prstGeom prst="rect">
            <a:avLst/>
          </a:prstGeom>
          <a:noFill/>
          <a:ln/>
        </p:spPr>
        <p:txBody>
          <a:bodyPr wrap="square" lIns="0" tIns="0" rIns="0" bIns="0"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0</a:t>
            </a:r>
            <a:endParaRPr lang="en-US" sz="3400" dirty="0"/>
          </a:p>
        </p:txBody>
      </p:sp>
      <p:sp>
        <p:nvSpPr>
          <p:cNvPr id="18" name="Text 16"/>
          <p:cNvSpPr/>
          <p:nvPr/>
        </p:nvSpPr>
        <p:spPr>
          <a:xfrm>
            <a:off x="475488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Planned Goals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Completed</a:t>
            </a:r>
            <a:endParaRPr lang="en-US" sz="1000" dirty="0"/>
          </a:p>
        </p:txBody>
      </p:sp>
      <p:sp>
        <p:nvSpPr>
          <p:cNvPr id="19" name="Shape 17"/>
          <p:cNvSpPr/>
          <p:nvPr/>
        </p:nvSpPr>
        <p:spPr>
          <a:xfrm>
            <a:off x="676656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0" name="Shape 18"/>
          <p:cNvSpPr/>
          <p:nvPr/>
        </p:nvSpPr>
        <p:spPr>
          <a:xfrm>
            <a:off x="6766560" y="1737360"/>
            <a:ext cx="1737360" cy="36576"/>
          </a:xfrm>
          <a:prstGeom prst="rect">
            <a:avLst/>
          </a:prstGeom>
          <a:solidFill>
            <a:srgbClr val="22C55E"/>
          </a:solidFill>
          <a:ln/>
        </p:spPr>
      </p:sp>
      <p:sp>
        <p:nvSpPr>
          <p:cNvPr id="21" name="Text 19"/>
          <p:cNvSpPr/>
          <p:nvPr/>
        </p:nvSpPr>
        <p:spPr>
          <a:xfrm>
            <a:off x="6766560" y="1810512"/>
            <a:ext cx="1737360" cy="502920"/>
          </a:xfrm>
          <a:prstGeom prst="rect">
            <a:avLst/>
          </a:prstGeom>
          <a:noFill/>
          <a:ln/>
        </p:spPr>
        <p:txBody>
          <a:bodyPr wrap="square" lIns="0" tIns="0" rIns="0" bIns="0" rtlCol="0" anchor="ctr"/>
          <a:lstStyle/>
          <a:p>
            <a:pPr algn="ctr" indent="0" marL="0">
              <a:buNone/>
            </a:pPr>
            <a:r>
              <a:rPr lang="en-US" sz="3400" b="1" dirty="0">
                <a:solidFill>
                  <a:srgbClr val="22C55E"/>
                </a:solidFill>
                <a:latin typeface="Calibri" pitchFamily="34" charset="0"/>
                <a:ea typeface="Calibri" pitchFamily="34" charset="-122"/>
                <a:cs typeface="Calibri" pitchFamily="34" charset="-120"/>
              </a:rPr>
              <a:t>7</a:t>
            </a:r>
            <a:endParaRPr lang="en-US" sz="3400" dirty="0"/>
          </a:p>
        </p:txBody>
      </p:sp>
      <p:sp>
        <p:nvSpPr>
          <p:cNvPr id="22" name="Text 20"/>
          <p:cNvSpPr/>
          <p:nvPr/>
        </p:nvSpPr>
        <p:spPr>
          <a:xfrm>
            <a:off x="676656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Working Days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Remaining</a:t>
            </a:r>
            <a:endParaRPr lang="en-US" sz="1000" dirty="0"/>
          </a:p>
        </p:txBody>
      </p:sp>
      <p:sp>
        <p:nvSpPr>
          <p:cNvPr id="23" name="Text 21"/>
          <p:cNvSpPr/>
          <p:nvPr/>
        </p:nvSpPr>
        <p:spPr>
          <a:xfrm>
            <a:off x="731520" y="301752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Sprint Comparison</a:t>
            </a:r>
            <a:endParaRPr lang="en-US" sz="1500" dirty="0"/>
          </a:p>
        </p:txBody>
      </p:sp>
      <p:sp>
        <p:nvSpPr>
          <p:cNvPr id="24" name="Text 22"/>
          <p:cNvSpPr/>
          <p:nvPr/>
        </p:nvSpPr>
        <p:spPr>
          <a:xfrm>
            <a:off x="731520" y="3337560"/>
            <a:ext cx="7680960" cy="1097280"/>
          </a:xfrm>
          <a:prstGeom prst="rect">
            <a:avLst/>
          </a:prstGeom>
          <a:noFill/>
          <a:ln/>
        </p:spPr>
        <p:txBody>
          <a:bodyPr wrap="square" rtlCol="0" anchor="ctr"/>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2: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47 items closed in 2 weeks (13 in final week alone)</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3: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Effectively a 1-week sprint for planned work</a:t>
            </a:r>
            <a:endParaRPr lang="en-US" sz="1300" dirty="0"/>
          </a:p>
          <a:p>
            <a:pPr indent="0" marL="0">
              <a:spcAft>
                <a:spcPts val="600"/>
              </a:spcAft>
              <a:buNone/>
            </a:pPr>
            <a:r>
              <a:rPr lang="en-US" sz="1300" b="1" dirty="0">
                <a:solidFill>
                  <a:srgbClr val="F59E0B"/>
                </a:solidFill>
                <a:latin typeface="Calibri" pitchFamily="34" charset="0"/>
                <a:ea typeface="Calibri" pitchFamily="34" charset="-122"/>
                <a:cs typeface="Calibri" pitchFamily="34" charset="-120"/>
              </a:rPr>
              <a:t>Key risk: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Day 8 scope freeze approaching with zero goal progress</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Team Load &amp; Current Assignments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1005840"/>
                <a:gridCol w="548640"/>
                <a:gridCol w="548640"/>
                <a:gridCol w="4389120"/>
                <a:gridCol w="1097280"/>
              </a:tblGrid>
              <a:tr h="3200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 This 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Rob</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FL-5, FL-6, 4 audit items remain, breach done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EC1B34"/>
                          </a:solidFill>
                          <a:latin typeface="Calibri" pitchFamily="34" charset="0"/>
                          <a:ea typeface="Calibri" pitchFamily="34" charset="-122"/>
                          <a:cs typeface="Calibri" pitchFamily="34" charset="-120"/>
                        </a:rPr>
                        <a:t>Overloaded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Millicent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Scheduled order updates, bug fixes, chores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22C55E"/>
                          </a:solidFill>
                          <a:latin typeface="Calibri" pitchFamily="34" charset="0"/>
                          <a:ea typeface="Calibri" pitchFamily="34" charset="-122"/>
                          <a:cs typeface="Calibri" pitchFamily="34" charset="-120"/>
                        </a:rPr>
                        <a:t>Capacity</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Bea</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 frontend (blocked), Orders UX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Ramping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Doug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All need reassignment before departure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7A8A96"/>
                          </a:solidFill>
                          <a:latin typeface="Calibri" pitchFamily="34" charset="0"/>
                          <a:ea typeface="Calibri" pitchFamily="34" charset="-122"/>
                          <a:cs typeface="Calibri" pitchFamily="34" charset="-120"/>
                        </a:rPr>
                        <a:t>Departing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Unassigned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Includes FL-1 to FL-4 blockers + 28 design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Needs triage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bl>
          </a:graphicData>
        </a:graphic>
      </p:graphicFrame>
      <p:sp>
        <p:nvSpPr>
          <p:cNvPr id="5" name="Shape 2"/>
          <p:cNvSpPr/>
          <p:nvPr/>
        </p:nvSpPr>
        <p:spPr>
          <a:xfrm>
            <a:off x="731520" y="3931920"/>
            <a:ext cx="7680960" cy="594360"/>
          </a:xfrm>
          <a:prstGeom prst="rect">
            <a:avLst/>
          </a:prstGeom>
          <a:solidFill>
            <a:srgbClr val="1A2530"/>
          </a:solidFill>
          <a:ln/>
        </p:spPr>
      </p:sp>
      <p:sp>
        <p:nvSpPr>
          <p:cNvPr id="6" name="Shape 3"/>
          <p:cNvSpPr/>
          <p:nvPr/>
        </p:nvSpPr>
        <p:spPr>
          <a:xfrm>
            <a:off x="731520" y="3931920"/>
            <a:ext cx="54864" cy="594360"/>
          </a:xfrm>
          <a:prstGeom prst="rect">
            <a:avLst/>
          </a:prstGeom>
          <a:solidFill>
            <a:srgbClr val="EC1B34"/>
          </a:solidFill>
          <a:ln/>
        </p:spPr>
      </p:sp>
      <p:sp>
        <p:nvSpPr>
          <p:cNvPr id="7" name="Text 4"/>
          <p:cNvSpPr/>
          <p:nvPr/>
        </p:nvSpPr>
        <p:spPr>
          <a:xfrm>
            <a:off x="1005840" y="3931920"/>
            <a:ext cx="7223760" cy="594360"/>
          </a:xfrm>
          <a:prstGeom prst="rect">
            <a:avLst/>
          </a:prstGeom>
          <a:noFill/>
          <a:ln/>
        </p:spPr>
        <p:txBody>
          <a:bodyPr wrap="square"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Key issue: </a:t>
            </a:r>
            <a:pPr indent="0" marL="0">
              <a:buNone/>
            </a:pPr>
            <a:r>
              <a:rPr lang="en-US" sz="1100" dirty="0">
                <a:solidFill>
                  <a:srgbClr val="E4E9EC"/>
                </a:solidFill>
                <a:latin typeface="Calibri" pitchFamily="34" charset="0"/>
                <a:ea typeface="Calibri" pitchFamily="34" charset="-122"/>
                <a:cs typeface="Calibri" pitchFamily="34" charset="-120"/>
              </a:rPr>
              <a:t>Rob has 49 open issues (down from 53 after audit blitz) — sustainable is ~22 SP/sprint. Millicent has capacity to absorb FL backend tickets. Bea's 12 sprint items need trimming to 3–4 realistic targets.</a:t>
            </a:r>
            <a:endParaRPr lang="en-US" sz="1100" dirty="0"/>
          </a:p>
        </p:txBody>
      </p:sp>
      <p:pic>
        <p:nvPicPr>
          <p:cNvPr id="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10"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1"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Quarterly Priorities — Status Check</a:t>
            </a:r>
            <a:endParaRPr lang="en-US" sz="2800" dirty="0"/>
          </a:p>
        </p:txBody>
      </p:sp>
      <p:sp>
        <p:nvSpPr>
          <p:cNvPr id="4" name="Shape 2"/>
          <p:cNvSpPr/>
          <p:nvPr/>
        </p:nvSpPr>
        <p:spPr>
          <a:xfrm>
            <a:off x="731520" y="109728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97280"/>
            <a:ext cx="54864" cy="1051560"/>
          </a:xfrm>
          <a:prstGeom prst="rect">
            <a:avLst/>
          </a:prstGeom>
          <a:solidFill>
            <a:srgbClr val="EC1B34"/>
          </a:solidFill>
          <a:ln/>
        </p:spPr>
      </p:sp>
      <p:sp>
        <p:nvSpPr>
          <p:cNvPr id="6" name="Text 4"/>
          <p:cNvSpPr/>
          <p:nvPr/>
        </p:nvSpPr>
        <p:spPr>
          <a:xfrm>
            <a:off x="1005840" y="117043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Fuel Surcharge</a:t>
            </a:r>
            <a:endParaRPr lang="en-US" sz="1600" dirty="0"/>
          </a:p>
        </p:txBody>
      </p:sp>
      <p:sp>
        <p:nvSpPr>
          <p:cNvPr id="7" name="Shape 5"/>
          <p:cNvSpPr/>
          <p:nvPr/>
        </p:nvSpPr>
        <p:spPr>
          <a:xfrm>
            <a:off x="6949440" y="1170432"/>
            <a:ext cx="1188720" cy="256032"/>
          </a:xfrm>
          <a:prstGeom prst="rect">
            <a:avLst/>
          </a:prstGeom>
          <a:solidFill>
            <a:srgbClr val="EC1B34"/>
          </a:solidFill>
          <a:ln/>
        </p:spPr>
      </p:sp>
      <p:sp>
        <p:nvSpPr>
          <p:cNvPr id="8" name="Text 6"/>
          <p:cNvSpPr/>
          <p:nvPr/>
        </p:nvSpPr>
        <p:spPr>
          <a:xfrm>
            <a:off x="6949440" y="117043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Behind</a:t>
            </a:r>
            <a:endParaRPr lang="en-US" sz="1000" dirty="0"/>
          </a:p>
        </p:txBody>
      </p:sp>
      <p:sp>
        <p:nvSpPr>
          <p:cNvPr id="9" name="Text 7"/>
          <p:cNvSpPr/>
          <p:nvPr/>
        </p:nvSpPr>
        <p:spPr>
          <a:xfrm>
            <a:off x="1005840" y="146304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14 tickets total. FL-1 to FL-4 (backend foundation) are unassigned and block everything. Rob's FL-5/FL-6 and all of Bea's frontend work are waiting.</a:t>
            </a:r>
            <a:endParaRPr lang="en-US" sz="1100" dirty="0"/>
          </a:p>
        </p:txBody>
      </p:sp>
      <p:sp>
        <p:nvSpPr>
          <p:cNvPr id="10" name="Text 8"/>
          <p:cNvSpPr/>
          <p:nvPr/>
        </p:nvSpPr>
        <p:spPr>
          <a:xfrm>
            <a:off x="1005840" y="182880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Assign FL-1 to FL-3 to Millicent now</a:t>
            </a:r>
            <a:endParaRPr lang="en-US" sz="1100" dirty="0"/>
          </a:p>
        </p:txBody>
      </p:sp>
      <p:sp>
        <p:nvSpPr>
          <p:cNvPr id="11" name="Shape 9"/>
          <p:cNvSpPr/>
          <p:nvPr/>
        </p:nvSpPr>
        <p:spPr>
          <a:xfrm>
            <a:off x="731520" y="233172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731520" y="2331720"/>
            <a:ext cx="54864" cy="1051560"/>
          </a:xfrm>
          <a:prstGeom prst="rect">
            <a:avLst/>
          </a:prstGeom>
          <a:solidFill>
            <a:srgbClr val="F59E0B"/>
          </a:solidFill>
          <a:ln/>
        </p:spPr>
      </p:sp>
      <p:sp>
        <p:nvSpPr>
          <p:cNvPr id="13" name="Text 11"/>
          <p:cNvSpPr/>
          <p:nvPr/>
        </p:nvSpPr>
        <p:spPr>
          <a:xfrm>
            <a:off x="1005840" y="240487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Orders Experience</a:t>
            </a:r>
            <a:endParaRPr lang="en-US" sz="1600" dirty="0"/>
          </a:p>
        </p:txBody>
      </p:sp>
      <p:sp>
        <p:nvSpPr>
          <p:cNvPr id="14" name="Shape 12"/>
          <p:cNvSpPr/>
          <p:nvPr/>
        </p:nvSpPr>
        <p:spPr>
          <a:xfrm>
            <a:off x="6949440" y="2404872"/>
            <a:ext cx="1188720" cy="256032"/>
          </a:xfrm>
          <a:prstGeom prst="rect">
            <a:avLst/>
          </a:prstGeom>
          <a:solidFill>
            <a:srgbClr val="F59E0B"/>
          </a:solidFill>
          <a:ln/>
        </p:spPr>
      </p:sp>
      <p:sp>
        <p:nvSpPr>
          <p:cNvPr id="15" name="Text 13"/>
          <p:cNvSpPr/>
          <p:nvPr/>
        </p:nvSpPr>
        <p:spPr>
          <a:xfrm>
            <a:off x="6949440" y="240487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Progressing</a:t>
            </a:r>
            <a:endParaRPr lang="en-US" sz="1000" dirty="0"/>
          </a:p>
        </p:txBody>
      </p:sp>
      <p:sp>
        <p:nvSpPr>
          <p:cNvPr id="16" name="Text 14"/>
          <p:cNvSpPr/>
          <p:nvPr/>
        </p:nvSpPr>
        <p:spPr>
          <a:xfrm>
            <a:off x="1005840" y="269748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Doug built the core (47 tickets). Bea owns the epic. 28 new design-feedback tickets in backlog need triage. 3 new sub-epics created for UX improvements.</a:t>
            </a:r>
            <a:endParaRPr lang="en-US" sz="1100" dirty="0"/>
          </a:p>
        </p:txBody>
      </p:sp>
      <p:sp>
        <p:nvSpPr>
          <p:cNvPr id="17" name="Text 15"/>
          <p:cNvSpPr/>
          <p:nvPr/>
        </p:nvSpPr>
        <p:spPr>
          <a:xfrm>
            <a:off x="1005840" y="306324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Triage design-feedback batch — pick 3–5 for Sprint 4</a:t>
            </a:r>
            <a:endParaRPr lang="en-US" sz="1100" dirty="0"/>
          </a:p>
        </p:txBody>
      </p:sp>
      <p:sp>
        <p:nvSpPr>
          <p:cNvPr id="18" name="Shape 16"/>
          <p:cNvSpPr/>
          <p:nvPr/>
        </p:nvSpPr>
        <p:spPr>
          <a:xfrm>
            <a:off x="731520" y="356616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9" name="Shape 17"/>
          <p:cNvSpPr/>
          <p:nvPr/>
        </p:nvSpPr>
        <p:spPr>
          <a:xfrm>
            <a:off x="731520" y="3566160"/>
            <a:ext cx="54864" cy="1051560"/>
          </a:xfrm>
          <a:prstGeom prst="rect">
            <a:avLst/>
          </a:prstGeom>
          <a:solidFill>
            <a:srgbClr val="EC1B34"/>
          </a:solidFill>
          <a:ln/>
        </p:spPr>
      </p:sp>
      <p:sp>
        <p:nvSpPr>
          <p:cNvPr id="20" name="Text 18"/>
          <p:cNvSpPr/>
          <p:nvPr/>
        </p:nvSpPr>
        <p:spPr>
          <a:xfrm>
            <a:off x="1005840" y="363931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Refills in Cloud</a:t>
            </a:r>
            <a:endParaRPr lang="en-US" sz="1600" dirty="0"/>
          </a:p>
        </p:txBody>
      </p:sp>
      <p:sp>
        <p:nvSpPr>
          <p:cNvPr id="21" name="Shape 19"/>
          <p:cNvSpPr/>
          <p:nvPr/>
        </p:nvSpPr>
        <p:spPr>
          <a:xfrm>
            <a:off x="6949440" y="3639312"/>
            <a:ext cx="1188720" cy="256032"/>
          </a:xfrm>
          <a:prstGeom prst="rect">
            <a:avLst/>
          </a:prstGeom>
          <a:solidFill>
            <a:srgbClr val="EC1B34"/>
          </a:solidFill>
          <a:ln/>
        </p:spPr>
      </p:sp>
      <p:sp>
        <p:nvSpPr>
          <p:cNvPr id="22" name="Text 20"/>
          <p:cNvSpPr/>
          <p:nvPr/>
        </p:nvSpPr>
        <p:spPr>
          <a:xfrm>
            <a:off x="6949440" y="363931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Started</a:t>
            </a:r>
            <a:endParaRPr lang="en-US" sz="1000" dirty="0"/>
          </a:p>
        </p:txBody>
      </p:sp>
      <p:sp>
        <p:nvSpPr>
          <p:cNvPr id="23" name="Text 21"/>
          <p:cNvSpPr/>
          <p:nvPr/>
        </p:nvSpPr>
        <p:spPr>
          <a:xfrm>
            <a:off x="1005840" y="393192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6 sub-tickets under NS Epic 1. Discovery (#4309) sitting since Sprint 1. Depends on NS Epic 0 Foundation which is also still open.</a:t>
            </a:r>
            <a:endParaRPr lang="en-US" sz="1100" dirty="0"/>
          </a:p>
        </p:txBody>
      </p:sp>
      <p:sp>
        <p:nvSpPr>
          <p:cNvPr id="24" name="Text 22"/>
          <p:cNvSpPr/>
          <p:nvPr/>
        </p:nvSpPr>
        <p:spPr>
          <a:xfrm>
            <a:off x="1005840" y="429768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Rob to complete NS-1.1 discovery this sprint</a:t>
            </a:r>
            <a:endParaRPr lang="en-US" sz="11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Backlog — 45 Unassigned Items</a:t>
            </a:r>
            <a:endParaRPr lang="en-US" sz="2800" dirty="0"/>
          </a:p>
        </p:txBody>
      </p:sp>
      <p:sp>
        <p:nvSpPr>
          <p:cNvPr id="4" name="Text 2"/>
          <p:cNvSpPr/>
          <p:nvPr/>
        </p:nvSpPr>
        <p:spPr>
          <a:xfrm>
            <a:off x="731520" y="914400"/>
            <a:ext cx="7680960" cy="228600"/>
          </a:xfrm>
          <a:prstGeom prst="rect">
            <a:avLst/>
          </a:prstGeom>
          <a:noFill/>
          <a:ln/>
        </p:spPr>
        <p:txBody>
          <a:bodyPr wrap="square" lIns="0" tIns="0" rIns="0" bIns="0" rtlCol="0" anchor="ctr"/>
          <a:lstStyle/>
          <a:p>
            <a:pPr indent="0" marL="0">
              <a:buNone/>
            </a:pPr>
            <a:r>
              <a:rPr lang="en-US" sz="1200" dirty="0">
                <a:solidFill>
                  <a:srgbClr val="7A8A96"/>
                </a:solidFill>
                <a:latin typeface="Calibri" pitchFamily="34" charset="0"/>
                <a:ea typeface="Calibri" pitchFamily="34" charset="-122"/>
                <a:cs typeface="Calibri" pitchFamily="34" charset="-120"/>
              </a:rPr>
              <a:t>Natural groupings identified for batch triage:</a:t>
            </a:r>
            <a:endParaRPr lang="en-US" sz="1200" dirty="0"/>
          </a:p>
        </p:txBody>
      </p:sp>
      <p:sp>
        <p:nvSpPr>
          <p:cNvPr id="5" name="Shape 3"/>
          <p:cNvSpPr/>
          <p:nvPr/>
        </p:nvSpPr>
        <p:spPr>
          <a:xfrm>
            <a:off x="73152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6" name="Shape 4"/>
          <p:cNvSpPr/>
          <p:nvPr/>
        </p:nvSpPr>
        <p:spPr>
          <a:xfrm>
            <a:off x="731520" y="1325880"/>
            <a:ext cx="2377440" cy="36576"/>
          </a:xfrm>
          <a:prstGeom prst="rect">
            <a:avLst/>
          </a:prstGeom>
          <a:solidFill>
            <a:srgbClr val="EC1B34"/>
          </a:solidFill>
          <a:ln/>
        </p:spPr>
      </p:sp>
      <p:sp>
        <p:nvSpPr>
          <p:cNvPr id="7" name="Text 5"/>
          <p:cNvSpPr/>
          <p:nvPr/>
        </p:nvSpPr>
        <p:spPr>
          <a:xfrm>
            <a:off x="868680" y="1435608"/>
            <a:ext cx="548640" cy="320040"/>
          </a:xfrm>
          <a:prstGeom prst="rect">
            <a:avLst/>
          </a:prstGeom>
          <a:noFill/>
          <a:ln/>
        </p:spPr>
        <p:txBody>
          <a:bodyPr wrap="square" lIns="0" tIns="0" rIns="0" bIns="0" rtlCol="0" anchor="ctr"/>
          <a:lstStyle/>
          <a:p>
            <a:pPr indent="0" marL="0">
              <a:buNone/>
            </a:pPr>
            <a:r>
              <a:rPr lang="en-US" sz="2200" b="1" dirty="0">
                <a:solidFill>
                  <a:srgbClr val="EC1B34"/>
                </a:solidFill>
                <a:latin typeface="Calibri" pitchFamily="34" charset="0"/>
                <a:ea typeface="Calibri" pitchFamily="34" charset="-122"/>
                <a:cs typeface="Calibri" pitchFamily="34" charset="-120"/>
              </a:rPr>
              <a:t>28</a:t>
            </a:r>
            <a:endParaRPr lang="en-US" sz="2200" dirty="0"/>
          </a:p>
        </p:txBody>
      </p:sp>
      <p:sp>
        <p:nvSpPr>
          <p:cNvPr id="8" name="Text 6"/>
          <p:cNvSpPr/>
          <p:nvPr/>
        </p:nvSpPr>
        <p:spPr>
          <a:xfrm>
            <a:off x="137160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Feedback</a:t>
            </a:r>
            <a:endParaRPr lang="en-US" sz="1300" dirty="0"/>
          </a:p>
        </p:txBody>
      </p:sp>
      <p:sp>
        <p:nvSpPr>
          <p:cNvPr id="9" name="Text 7"/>
          <p:cNvSpPr/>
          <p:nvPr/>
        </p:nvSpPr>
        <p:spPr>
          <a:xfrm>
            <a:off x="86868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All created Apr 7 from one design review. 3 epics: Rentals List (11), Rental Form (8), Order Detail (9). 23 higher-priority, 5 low-priority.</a:t>
            </a:r>
            <a:endParaRPr lang="en-US" sz="1000" dirty="0"/>
          </a:p>
        </p:txBody>
      </p:sp>
      <p:sp>
        <p:nvSpPr>
          <p:cNvPr id="10" name="Shape 8"/>
          <p:cNvSpPr/>
          <p:nvPr/>
        </p:nvSpPr>
        <p:spPr>
          <a:xfrm>
            <a:off x="338328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1" name="Shape 9"/>
          <p:cNvSpPr/>
          <p:nvPr/>
        </p:nvSpPr>
        <p:spPr>
          <a:xfrm>
            <a:off x="3383280" y="1325880"/>
            <a:ext cx="2377440" cy="36576"/>
          </a:xfrm>
          <a:prstGeom prst="rect">
            <a:avLst/>
          </a:prstGeom>
          <a:solidFill>
            <a:srgbClr val="22C55E"/>
          </a:solidFill>
          <a:ln/>
        </p:spPr>
      </p:sp>
      <p:sp>
        <p:nvSpPr>
          <p:cNvPr id="12" name="Text 10"/>
          <p:cNvSpPr/>
          <p:nvPr/>
        </p:nvSpPr>
        <p:spPr>
          <a:xfrm>
            <a:off x="3520440" y="1435608"/>
            <a:ext cx="548640" cy="320040"/>
          </a:xfrm>
          <a:prstGeom prst="rect">
            <a:avLst/>
          </a:prstGeom>
          <a:noFill/>
          <a:ln/>
        </p:spPr>
        <p:txBody>
          <a:bodyPr wrap="square" lIns="0" tIns="0" rIns="0" bIns="0" rtlCol="0" anchor="ctr"/>
          <a:lstStyle/>
          <a:p>
            <a:pPr indent="0" marL="0">
              <a:buNone/>
            </a:pPr>
            <a:r>
              <a:rPr lang="en-US" sz="2200" b="1" dirty="0">
                <a:solidFill>
                  <a:srgbClr val="22C55E"/>
                </a:solidFill>
                <a:latin typeface="Calibri" pitchFamily="34" charset="0"/>
                <a:ea typeface="Calibri" pitchFamily="34" charset="-122"/>
                <a:cs typeface="Calibri" pitchFamily="34" charset="-120"/>
              </a:rPr>
              <a:t>0</a:t>
            </a:r>
            <a:endParaRPr lang="en-US" sz="2200" dirty="0"/>
          </a:p>
        </p:txBody>
      </p:sp>
      <p:sp>
        <p:nvSpPr>
          <p:cNvPr id="13" name="Text 11"/>
          <p:cNvSpPr/>
          <p:nvPr/>
        </p:nvSpPr>
        <p:spPr>
          <a:xfrm>
            <a:off x="402336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 Audit</a:t>
            </a:r>
            <a:endParaRPr lang="en-US" sz="1300" dirty="0"/>
          </a:p>
        </p:txBody>
      </p:sp>
      <p:sp>
        <p:nvSpPr>
          <p:cNvPr id="14" name="Text 12"/>
          <p:cNvSpPr/>
          <p:nvPr/>
        </p:nvSpPr>
        <p:spPr>
          <a:xfrm>
            <a:off x="352044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8 of 12 sub-tasks closed. 4 remaining assigned to Rob, milestoned Apr 13-24. No unassigned items.</a:t>
            </a:r>
            <a:endParaRPr lang="en-US" sz="1000" dirty="0"/>
          </a:p>
        </p:txBody>
      </p:sp>
      <p:sp>
        <p:nvSpPr>
          <p:cNvPr id="15" name="Shape 13"/>
          <p:cNvSpPr/>
          <p:nvPr/>
        </p:nvSpPr>
        <p:spPr>
          <a:xfrm>
            <a:off x="603504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6035040" y="1325880"/>
            <a:ext cx="2377440" cy="36576"/>
          </a:xfrm>
          <a:prstGeom prst="rect">
            <a:avLst/>
          </a:prstGeom>
          <a:solidFill>
            <a:srgbClr val="FF3D54"/>
          </a:solidFill>
          <a:ln/>
        </p:spPr>
      </p:sp>
      <p:sp>
        <p:nvSpPr>
          <p:cNvPr id="17" name="Text 15"/>
          <p:cNvSpPr/>
          <p:nvPr/>
        </p:nvSpPr>
        <p:spPr>
          <a:xfrm>
            <a:off x="6172200" y="1435608"/>
            <a:ext cx="548640" cy="320040"/>
          </a:xfrm>
          <a:prstGeom prst="rect">
            <a:avLst/>
          </a:prstGeom>
          <a:noFill/>
          <a:ln/>
        </p:spPr>
        <p:txBody>
          <a:bodyPr wrap="square" lIns="0" tIns="0" rIns="0" bIns="0" rtlCol="0" anchor="ctr"/>
          <a:lstStyle/>
          <a:p>
            <a:pPr indent="0" marL="0">
              <a:buNone/>
            </a:pPr>
            <a:r>
              <a:rPr lang="en-US" sz="2200" b="1" dirty="0">
                <a:solidFill>
                  <a:srgbClr val="FF3D54"/>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667512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Fuel Levy Backend</a:t>
            </a:r>
            <a:endParaRPr lang="en-US" sz="1300" dirty="0"/>
          </a:p>
        </p:txBody>
      </p:sp>
      <p:sp>
        <p:nvSpPr>
          <p:cNvPr id="19" name="Text 17"/>
          <p:cNvSpPr/>
          <p:nvPr/>
        </p:nvSpPr>
        <p:spPr>
          <a:xfrm>
            <a:off x="617220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FL-1 to FL-4 — critical blockers. Assign to Millicent.</a:t>
            </a:r>
            <a:endParaRPr lang="en-US" sz="1000" dirty="0"/>
          </a:p>
        </p:txBody>
      </p:sp>
      <p:sp>
        <p:nvSpPr>
          <p:cNvPr id="20" name="Shape 18"/>
          <p:cNvSpPr/>
          <p:nvPr/>
        </p:nvSpPr>
        <p:spPr>
          <a:xfrm>
            <a:off x="73152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1" name="Shape 19"/>
          <p:cNvSpPr/>
          <p:nvPr/>
        </p:nvSpPr>
        <p:spPr>
          <a:xfrm>
            <a:off x="731520" y="2834640"/>
            <a:ext cx="2377440" cy="36576"/>
          </a:xfrm>
          <a:prstGeom prst="rect">
            <a:avLst/>
          </a:prstGeom>
          <a:solidFill>
            <a:srgbClr val="F59E0B"/>
          </a:solidFill>
          <a:ln/>
        </p:spPr>
      </p:sp>
      <p:sp>
        <p:nvSpPr>
          <p:cNvPr id="22" name="Text 20"/>
          <p:cNvSpPr/>
          <p:nvPr/>
        </p:nvSpPr>
        <p:spPr>
          <a:xfrm>
            <a:off x="868680" y="2944368"/>
            <a:ext cx="548640" cy="32004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37160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NetSuite</a:t>
            </a:r>
            <a:endParaRPr lang="en-US" sz="1300" dirty="0"/>
          </a:p>
        </p:txBody>
      </p:sp>
      <p:sp>
        <p:nvSpPr>
          <p:cNvPr id="24" name="Text 22"/>
          <p:cNvSpPr/>
          <p:nvPr/>
        </p:nvSpPr>
        <p:spPr>
          <a:xfrm>
            <a:off x="86868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Rental order table error (#4623), item mapping (#4622), billing backpopulate (#4176).</a:t>
            </a:r>
            <a:endParaRPr lang="en-US" sz="1000" dirty="0"/>
          </a:p>
        </p:txBody>
      </p:sp>
      <p:sp>
        <p:nvSpPr>
          <p:cNvPr id="25" name="Shape 23"/>
          <p:cNvSpPr/>
          <p:nvPr/>
        </p:nvSpPr>
        <p:spPr>
          <a:xfrm>
            <a:off x="338328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6" name="Shape 24"/>
          <p:cNvSpPr/>
          <p:nvPr/>
        </p:nvSpPr>
        <p:spPr>
          <a:xfrm>
            <a:off x="3383280" y="2834640"/>
            <a:ext cx="2377440" cy="36576"/>
          </a:xfrm>
          <a:prstGeom prst="rect">
            <a:avLst/>
          </a:prstGeom>
          <a:solidFill>
            <a:srgbClr val="7A8A96"/>
          </a:solidFill>
          <a:ln/>
        </p:spPr>
      </p:sp>
      <p:sp>
        <p:nvSpPr>
          <p:cNvPr id="27" name="Text 25"/>
          <p:cNvSpPr/>
          <p:nvPr/>
        </p:nvSpPr>
        <p:spPr>
          <a:xfrm>
            <a:off x="3520440" y="2944368"/>
            <a:ext cx="548640" cy="320040"/>
          </a:xfrm>
          <a:prstGeom prst="rect">
            <a:avLst/>
          </a:prstGeom>
          <a:noFill/>
          <a:ln/>
        </p:spPr>
        <p:txBody>
          <a:bodyPr wrap="square" lIns="0" tIns="0" rIns="0" bIns="0" rtlCol="0" anchor="ctr"/>
          <a:lstStyle/>
          <a:p>
            <a:pPr indent="0" marL="0">
              <a:buNone/>
            </a:pPr>
            <a:r>
              <a:rPr lang="en-US" sz="2200" b="1" dirty="0">
                <a:solidFill>
                  <a:srgbClr val="7A8A96"/>
                </a:solidFill>
                <a:latin typeface="Calibri" pitchFamily="34" charset="0"/>
                <a:ea typeface="Calibri" pitchFamily="34" charset="-122"/>
                <a:cs typeface="Calibri" pitchFamily="34" charset="-120"/>
              </a:rPr>
              <a:t>2</a:t>
            </a:r>
            <a:endParaRPr lang="en-US" sz="2200" dirty="0"/>
          </a:p>
        </p:txBody>
      </p:sp>
      <p:sp>
        <p:nvSpPr>
          <p:cNvPr id="28" name="Text 26"/>
          <p:cNvSpPr/>
          <p:nvPr/>
        </p:nvSpPr>
        <p:spPr>
          <a:xfrm>
            <a:off x="402336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Bugs &amp; Chores</a:t>
            </a:r>
            <a:endParaRPr lang="en-US" sz="1300" dirty="0"/>
          </a:p>
        </p:txBody>
      </p:sp>
      <p:sp>
        <p:nvSpPr>
          <p:cNvPr id="29" name="Text 27"/>
          <p:cNvSpPr/>
          <p:nvPr/>
        </p:nvSpPr>
        <p:spPr>
          <a:xfrm>
            <a:off x="352044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SignupForm email unused, consolidate default tenant.</a:t>
            </a:r>
            <a:endParaRPr lang="en-US" sz="1000" dirty="0"/>
          </a:p>
        </p:txBody>
      </p:sp>
      <p:sp>
        <p:nvSpPr>
          <p:cNvPr id="30" name="Shape 28"/>
          <p:cNvSpPr/>
          <p:nvPr/>
        </p:nvSpPr>
        <p:spPr>
          <a:xfrm>
            <a:off x="603504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31" name="Shape 29"/>
          <p:cNvSpPr/>
          <p:nvPr/>
        </p:nvSpPr>
        <p:spPr>
          <a:xfrm>
            <a:off x="6035040" y="2834640"/>
            <a:ext cx="2377440" cy="36576"/>
          </a:xfrm>
          <a:prstGeom prst="rect">
            <a:avLst/>
          </a:prstGeom>
          <a:solidFill>
            <a:srgbClr val="C8CDD0"/>
          </a:solidFill>
          <a:ln/>
        </p:spPr>
      </p:sp>
      <p:sp>
        <p:nvSpPr>
          <p:cNvPr id="32" name="Text 30"/>
          <p:cNvSpPr/>
          <p:nvPr/>
        </p:nvSpPr>
        <p:spPr>
          <a:xfrm>
            <a:off x="6172200" y="2944368"/>
            <a:ext cx="548640" cy="320040"/>
          </a:xfrm>
          <a:prstGeom prst="rect">
            <a:avLst/>
          </a:prstGeom>
          <a:noFill/>
          <a:ln/>
        </p:spPr>
        <p:txBody>
          <a:bodyPr wrap="square" lIns="0" tIns="0" rIns="0" bIns="0" rtlCol="0" anchor="ctr"/>
          <a:lstStyle/>
          <a:p>
            <a:pPr indent="0" marL="0">
              <a:buNone/>
            </a:pPr>
            <a:r>
              <a:rPr lang="en-US" sz="2200" b="1" dirty="0">
                <a:solidFill>
                  <a:srgbClr val="C8CDD0"/>
                </a:solidFill>
                <a:latin typeface="Calibri" pitchFamily="34" charset="0"/>
                <a:ea typeface="Calibri" pitchFamily="34" charset="-122"/>
                <a:cs typeface="Calibri" pitchFamily="34" charset="-120"/>
              </a:rPr>
              <a:t>8</a:t>
            </a:r>
            <a:endParaRPr lang="en-US" sz="2200" dirty="0"/>
          </a:p>
        </p:txBody>
      </p:sp>
      <p:sp>
        <p:nvSpPr>
          <p:cNvPr id="33" name="Text 31"/>
          <p:cNvSpPr/>
          <p:nvPr/>
        </p:nvSpPr>
        <p:spPr>
          <a:xfrm>
            <a:off x="667512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Other</a:t>
            </a:r>
            <a:endParaRPr lang="en-US" sz="1300" dirty="0"/>
          </a:p>
        </p:txBody>
      </p:sp>
      <p:sp>
        <p:nvSpPr>
          <p:cNvPr id="34" name="Text 32"/>
          <p:cNvSpPr/>
          <p:nvPr/>
        </p:nvSpPr>
        <p:spPr>
          <a:xfrm>
            <a:off x="617220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Cutover, cutoff time, unschedule endpoint, global search perf, collection blind spot + 3 misc.</a:t>
            </a:r>
            <a:endParaRPr lang="en-US" sz="1000" dirty="0"/>
          </a:p>
        </p:txBody>
      </p:sp>
      <p:pic>
        <p:nvPicPr>
          <p:cNvPr id="3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7" name="Text 3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8" name="Text 3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 Handover — Monday Checklist</a:t>
            </a:r>
            <a:endParaRPr lang="en-US" sz="2800" dirty="0"/>
          </a:p>
        </p:txBody>
      </p:sp>
      <p:sp>
        <p:nvSpPr>
          <p:cNvPr id="4" name="Shape 2"/>
          <p:cNvSpPr/>
          <p:nvPr/>
        </p:nvSpPr>
        <p:spPr>
          <a:xfrm>
            <a:off x="731520" y="1133856"/>
            <a:ext cx="640080" cy="256032"/>
          </a:xfrm>
          <a:prstGeom prst="rect">
            <a:avLst/>
          </a:prstGeom>
          <a:solidFill>
            <a:srgbClr val="EC1B34"/>
          </a:solidFill>
          <a:ln/>
        </p:spPr>
      </p:sp>
      <p:sp>
        <p:nvSpPr>
          <p:cNvPr id="5" name="Text 3"/>
          <p:cNvSpPr/>
          <p:nvPr/>
        </p:nvSpPr>
        <p:spPr>
          <a:xfrm>
            <a:off x="731520" y="113385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6" name="Text 4"/>
          <p:cNvSpPr/>
          <p:nvPr/>
        </p:nvSpPr>
        <p:spPr>
          <a:xfrm>
            <a:off x="1600200" y="109728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Confirm all 10 open tickets are documented for Bea to pick up</a:t>
            </a:r>
            <a:endParaRPr lang="en-US" sz="1300" dirty="0"/>
          </a:p>
        </p:txBody>
      </p:sp>
      <p:sp>
        <p:nvSpPr>
          <p:cNvPr id="7" name="Shape 5"/>
          <p:cNvSpPr/>
          <p:nvPr/>
        </p:nvSpPr>
        <p:spPr>
          <a:xfrm>
            <a:off x="731520" y="1645920"/>
            <a:ext cx="640080" cy="256032"/>
          </a:xfrm>
          <a:prstGeom prst="rect">
            <a:avLst/>
          </a:prstGeom>
          <a:solidFill>
            <a:srgbClr val="EC1B34"/>
          </a:solidFill>
          <a:ln/>
        </p:spPr>
      </p:sp>
      <p:sp>
        <p:nvSpPr>
          <p:cNvPr id="8" name="Text 6"/>
          <p:cNvSpPr/>
          <p:nvPr/>
        </p:nvSpPr>
        <p:spPr>
          <a:xfrm>
            <a:off x="731520" y="164592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9" name="Text 7"/>
          <p:cNvSpPr/>
          <p:nvPr/>
        </p:nvSpPr>
        <p:spPr>
          <a:xfrm>
            <a:off x="1600200" y="160934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Deep-dive on #4526 (lease decoupling) — architecturally complex</a:t>
            </a:r>
            <a:endParaRPr lang="en-US" sz="1300" dirty="0"/>
          </a:p>
        </p:txBody>
      </p:sp>
      <p:sp>
        <p:nvSpPr>
          <p:cNvPr id="10" name="Shape 8"/>
          <p:cNvSpPr/>
          <p:nvPr/>
        </p:nvSpPr>
        <p:spPr>
          <a:xfrm>
            <a:off x="731520" y="2157984"/>
            <a:ext cx="640080" cy="256032"/>
          </a:xfrm>
          <a:prstGeom prst="rect">
            <a:avLst/>
          </a:prstGeom>
          <a:solidFill>
            <a:srgbClr val="EC1B34"/>
          </a:solidFill>
          <a:ln/>
        </p:spPr>
      </p:sp>
      <p:sp>
        <p:nvSpPr>
          <p:cNvPr id="11" name="Text 9"/>
          <p:cNvSpPr/>
          <p:nvPr/>
        </p:nvSpPr>
        <p:spPr>
          <a:xfrm>
            <a:off x="731520" y="2157984"/>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2" name="Text 10"/>
          <p:cNvSpPr/>
          <p:nvPr/>
        </p:nvSpPr>
        <p:spPr>
          <a:xfrm>
            <a:off x="1600200" y="2121408"/>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Rainforest QA test access and credentials documented</a:t>
            </a:r>
            <a:endParaRPr lang="en-US" sz="1300" dirty="0"/>
          </a:p>
        </p:txBody>
      </p:sp>
      <p:sp>
        <p:nvSpPr>
          <p:cNvPr id="13" name="Shape 11"/>
          <p:cNvSpPr/>
          <p:nvPr/>
        </p:nvSpPr>
        <p:spPr>
          <a:xfrm>
            <a:off x="731520" y="2670048"/>
            <a:ext cx="640080" cy="256032"/>
          </a:xfrm>
          <a:prstGeom prst="rect">
            <a:avLst/>
          </a:prstGeom>
          <a:solidFill>
            <a:srgbClr val="EC1B34"/>
          </a:solidFill>
          <a:ln/>
        </p:spPr>
      </p:sp>
      <p:sp>
        <p:nvSpPr>
          <p:cNvPr id="14" name="Text 12"/>
          <p:cNvSpPr/>
          <p:nvPr/>
        </p:nvSpPr>
        <p:spPr>
          <a:xfrm>
            <a:off x="731520" y="2670048"/>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5" name="Text 13"/>
          <p:cNvSpPr/>
          <p:nvPr/>
        </p:nvSpPr>
        <p:spPr>
          <a:xfrm>
            <a:off x="1600200" y="2633472"/>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Handover recordings confirmed in SharePoint</a:t>
            </a:r>
            <a:endParaRPr lang="en-US" sz="1300" dirty="0"/>
          </a:p>
        </p:txBody>
      </p:sp>
      <p:sp>
        <p:nvSpPr>
          <p:cNvPr id="16" name="Shape 14"/>
          <p:cNvSpPr/>
          <p:nvPr/>
        </p:nvSpPr>
        <p:spPr>
          <a:xfrm>
            <a:off x="731520" y="3182112"/>
            <a:ext cx="640080" cy="256032"/>
          </a:xfrm>
          <a:prstGeom prst="rect">
            <a:avLst/>
          </a:prstGeom>
          <a:solidFill>
            <a:srgbClr val="F59E0B"/>
          </a:solidFill>
          <a:ln/>
        </p:spPr>
      </p:sp>
      <p:sp>
        <p:nvSpPr>
          <p:cNvPr id="17" name="Text 15"/>
          <p:cNvSpPr/>
          <p:nvPr/>
        </p:nvSpPr>
        <p:spPr>
          <a:xfrm>
            <a:off x="731520" y="3182112"/>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Ask</a:t>
            </a:r>
            <a:endParaRPr lang="en-US" sz="900" dirty="0"/>
          </a:p>
        </p:txBody>
      </p:sp>
      <p:sp>
        <p:nvSpPr>
          <p:cNvPr id="18" name="Text 16"/>
          <p:cNvSpPr/>
          <p:nvPr/>
        </p:nvSpPr>
        <p:spPr>
          <a:xfrm>
            <a:off x="1600200" y="3145536"/>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Undocumented tribal knowledge about Orders frontend state management?</a:t>
            </a:r>
            <a:endParaRPr lang="en-US" sz="1300" dirty="0"/>
          </a:p>
        </p:txBody>
      </p:sp>
      <p:sp>
        <p:nvSpPr>
          <p:cNvPr id="19" name="Shape 17"/>
          <p:cNvSpPr/>
          <p:nvPr/>
        </p:nvSpPr>
        <p:spPr>
          <a:xfrm>
            <a:off x="731520" y="3694176"/>
            <a:ext cx="640080" cy="256032"/>
          </a:xfrm>
          <a:prstGeom prst="rect">
            <a:avLst/>
          </a:prstGeom>
          <a:solidFill>
            <a:srgbClr val="7A8A96"/>
          </a:solidFill>
          <a:ln/>
        </p:spPr>
      </p:sp>
      <p:sp>
        <p:nvSpPr>
          <p:cNvPr id="20" name="Text 18"/>
          <p:cNvSpPr/>
          <p:nvPr/>
        </p:nvSpPr>
        <p:spPr>
          <a:xfrm>
            <a:off x="731520" y="369417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Nice</a:t>
            </a:r>
            <a:endParaRPr lang="en-US" sz="900" dirty="0"/>
          </a:p>
        </p:txBody>
      </p:sp>
      <p:sp>
        <p:nvSpPr>
          <p:cNvPr id="21" name="Text 19"/>
          <p:cNvSpPr/>
          <p:nvPr/>
        </p:nvSpPr>
        <p:spPr>
          <a:xfrm>
            <a:off x="1600200" y="365760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Group 3 Rainforest QA tickets (#4473-4475) into single effort for Bea</a:t>
            </a:r>
            <a:endParaRPr lang="en-US" sz="1300" dirty="0"/>
          </a:p>
        </p:txBody>
      </p:sp>
      <p:sp>
        <p:nvSpPr>
          <p:cNvPr id="22" name="Shape 20"/>
          <p:cNvSpPr/>
          <p:nvPr/>
        </p:nvSpPr>
        <p:spPr>
          <a:xfrm>
            <a:off x="731520" y="4206240"/>
            <a:ext cx="640080" cy="256032"/>
          </a:xfrm>
          <a:prstGeom prst="rect">
            <a:avLst/>
          </a:prstGeom>
          <a:solidFill>
            <a:srgbClr val="22C55E"/>
          </a:solidFill>
          <a:ln/>
        </p:spPr>
      </p:sp>
      <p:sp>
        <p:nvSpPr>
          <p:cNvPr id="23" name="Text 21"/>
          <p:cNvSpPr/>
          <p:nvPr/>
        </p:nvSpPr>
        <p:spPr>
          <a:xfrm>
            <a:off x="731520" y="420624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a:t>
            </a:r>
            <a:endParaRPr lang="en-US" sz="900" dirty="0"/>
          </a:p>
        </p:txBody>
      </p:sp>
      <p:sp>
        <p:nvSpPr>
          <p:cNvPr id="24" name="Text 22"/>
          <p:cNvSpPr/>
          <p:nvPr/>
        </p:nvSpPr>
        <p:spPr>
          <a:xfrm>
            <a:off x="1600200" y="416966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#4636 (feature flag cleanup) to Bea — good starter ticket</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Recommended Actions</a:t>
            </a:r>
            <a:endParaRPr lang="en-US" sz="3200" dirty="0"/>
          </a:p>
        </p:txBody>
      </p:sp>
      <p:sp>
        <p:nvSpPr>
          <p:cNvPr id="4" name="Shape 2"/>
          <p:cNvSpPr/>
          <p:nvPr/>
        </p:nvSpPr>
        <p:spPr>
          <a:xfrm>
            <a:off x="731520" y="978408"/>
            <a:ext cx="310896" cy="310896"/>
          </a:xfrm>
          <a:prstGeom prst="ellipse">
            <a:avLst/>
          </a:prstGeom>
          <a:solidFill>
            <a:srgbClr val="EC1B34"/>
          </a:solidFill>
          <a:ln/>
        </p:spPr>
      </p:sp>
      <p:sp>
        <p:nvSpPr>
          <p:cNvPr id="5" name="Text 3"/>
          <p:cNvSpPr/>
          <p:nvPr/>
        </p:nvSpPr>
        <p:spPr>
          <a:xfrm>
            <a:off x="731520" y="97840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96012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Doug's 10 tickets — 7 to Bea, 3 QA tickets grouped</a:t>
            </a:r>
            <a:endParaRPr lang="en-US" sz="1300" dirty="0"/>
          </a:p>
        </p:txBody>
      </p:sp>
      <p:sp>
        <p:nvSpPr>
          <p:cNvPr id="7" name="Shape 5"/>
          <p:cNvSpPr/>
          <p:nvPr/>
        </p:nvSpPr>
        <p:spPr>
          <a:xfrm>
            <a:off x="731520" y="1380744"/>
            <a:ext cx="310896" cy="310896"/>
          </a:xfrm>
          <a:prstGeom prst="ellipse">
            <a:avLst/>
          </a:prstGeom>
          <a:solidFill>
            <a:srgbClr val="EC1B34"/>
          </a:solidFill>
          <a:ln/>
        </p:spPr>
      </p:sp>
      <p:sp>
        <p:nvSpPr>
          <p:cNvPr id="8" name="Text 6"/>
          <p:cNvSpPr/>
          <p:nvPr/>
        </p:nvSpPr>
        <p:spPr>
          <a:xfrm>
            <a:off x="731520" y="138074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34440" y="136245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Assign FL-1 to FL-4 to Millicent — unblock Fuel Levy chain</a:t>
            </a:r>
            <a:endParaRPr lang="en-US" sz="1300" dirty="0"/>
          </a:p>
        </p:txBody>
      </p:sp>
      <p:sp>
        <p:nvSpPr>
          <p:cNvPr id="10" name="Shape 8"/>
          <p:cNvSpPr/>
          <p:nvPr/>
        </p:nvSpPr>
        <p:spPr>
          <a:xfrm>
            <a:off x="731520" y="1783080"/>
            <a:ext cx="310896" cy="310896"/>
          </a:xfrm>
          <a:prstGeom prst="ellipse">
            <a:avLst/>
          </a:prstGeom>
          <a:solidFill>
            <a:srgbClr val="EC1B34"/>
          </a:solidFill>
          <a:ln/>
        </p:spPr>
      </p:sp>
      <p:sp>
        <p:nvSpPr>
          <p:cNvPr id="11" name="Text 9"/>
          <p:cNvSpPr/>
          <p:nvPr/>
        </p:nvSpPr>
        <p:spPr>
          <a:xfrm>
            <a:off x="731520" y="1783080"/>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234440" y="1764792"/>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Pace final 4 NS Audit items — milestoned Apr 13-24, ~2 SP/sprint</a:t>
            </a:r>
            <a:endParaRPr lang="en-US" sz="1300" dirty="0"/>
          </a:p>
        </p:txBody>
      </p:sp>
      <p:sp>
        <p:nvSpPr>
          <p:cNvPr id="13" name="Shape 11"/>
          <p:cNvSpPr/>
          <p:nvPr/>
        </p:nvSpPr>
        <p:spPr>
          <a:xfrm>
            <a:off x="731520" y="2185416"/>
            <a:ext cx="310896" cy="310896"/>
          </a:xfrm>
          <a:prstGeom prst="ellipse">
            <a:avLst/>
          </a:prstGeom>
          <a:solidFill>
            <a:srgbClr val="EC1B34"/>
          </a:solidFill>
          <a:ln/>
        </p:spPr>
      </p:sp>
      <p:sp>
        <p:nvSpPr>
          <p:cNvPr id="14" name="Text 12"/>
          <p:cNvSpPr/>
          <p:nvPr/>
        </p:nvSpPr>
        <p:spPr>
          <a:xfrm>
            <a:off x="731520" y="2185416"/>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234440" y="2167128"/>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Clean Sprint 1 milestone — move or close 10 stale items</a:t>
            </a:r>
            <a:endParaRPr lang="en-US" sz="1300" dirty="0"/>
          </a:p>
        </p:txBody>
      </p:sp>
      <p:sp>
        <p:nvSpPr>
          <p:cNvPr id="16" name="Shape 14"/>
          <p:cNvSpPr/>
          <p:nvPr/>
        </p:nvSpPr>
        <p:spPr>
          <a:xfrm>
            <a:off x="731520" y="2587752"/>
            <a:ext cx="310896" cy="310896"/>
          </a:xfrm>
          <a:prstGeom prst="ellipse">
            <a:avLst/>
          </a:prstGeom>
          <a:solidFill>
            <a:srgbClr val="EC1B34"/>
          </a:solidFill>
          <a:ln/>
        </p:spPr>
      </p:sp>
      <p:sp>
        <p:nvSpPr>
          <p:cNvPr id="17" name="Text 15"/>
          <p:cNvSpPr/>
          <p:nvPr/>
        </p:nvSpPr>
        <p:spPr>
          <a:xfrm>
            <a:off x="731520" y="25877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234440" y="2569464"/>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Triage design-feedback batch — pick 3–5 for Sprint 4, backlog rest</a:t>
            </a:r>
            <a:endParaRPr lang="en-US" sz="1300" dirty="0"/>
          </a:p>
        </p:txBody>
      </p:sp>
      <p:sp>
        <p:nvSpPr>
          <p:cNvPr id="19" name="Shape 17"/>
          <p:cNvSpPr/>
          <p:nvPr/>
        </p:nvSpPr>
        <p:spPr>
          <a:xfrm>
            <a:off x="731520" y="2990088"/>
            <a:ext cx="310896" cy="310896"/>
          </a:xfrm>
          <a:prstGeom prst="ellipse">
            <a:avLst/>
          </a:prstGeom>
          <a:solidFill>
            <a:srgbClr val="EC1B34"/>
          </a:solidFill>
          <a:ln/>
        </p:spPr>
      </p:sp>
      <p:sp>
        <p:nvSpPr>
          <p:cNvPr id="20" name="Text 18"/>
          <p:cNvSpPr/>
          <p:nvPr/>
        </p:nvSpPr>
        <p:spPr>
          <a:xfrm>
            <a:off x="731520" y="299008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234440" y="297180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Rob scope reduction — 49 open items (down from 53), defer 10+</a:t>
            </a:r>
            <a:endParaRPr lang="en-US" sz="1300" dirty="0"/>
          </a:p>
        </p:txBody>
      </p:sp>
      <p:sp>
        <p:nvSpPr>
          <p:cNvPr id="22" name="Shape 20"/>
          <p:cNvSpPr/>
          <p:nvPr/>
        </p:nvSpPr>
        <p:spPr>
          <a:xfrm>
            <a:off x="731520" y="3392424"/>
            <a:ext cx="310896" cy="310896"/>
          </a:xfrm>
          <a:prstGeom prst="ellipse">
            <a:avLst/>
          </a:prstGeom>
          <a:solidFill>
            <a:srgbClr val="EC1B34"/>
          </a:solidFill>
          <a:ln/>
        </p:spPr>
      </p:sp>
      <p:sp>
        <p:nvSpPr>
          <p:cNvPr id="23" name="Text 21"/>
          <p:cNvSpPr/>
          <p:nvPr/>
        </p:nvSpPr>
        <p:spPr>
          <a:xfrm>
            <a:off x="731520" y="339242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p:nvPr/>
        </p:nvSpPr>
        <p:spPr>
          <a:xfrm>
            <a:off x="1234440" y="337413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Revised Sprint 3 goals for remaining 7 days:</a:t>
            </a:r>
            <a:endParaRPr lang="en-US" sz="1300" dirty="0"/>
          </a:p>
        </p:txBody>
      </p:sp>
      <p:sp>
        <p:nvSpPr>
          <p:cNvPr id="25" name="Shape 23"/>
          <p:cNvSpPr/>
          <p:nvPr/>
        </p:nvSpPr>
        <p:spPr>
          <a:xfrm>
            <a:off x="1234440" y="3840480"/>
            <a:ext cx="7132320" cy="777240"/>
          </a:xfrm>
          <a:prstGeom prst="rect">
            <a:avLst/>
          </a:prstGeom>
          <a:solidFill>
            <a:srgbClr val="1A2530"/>
          </a:solidFill>
          <a:ln/>
        </p:spPr>
      </p:sp>
      <p:sp>
        <p:nvSpPr>
          <p:cNvPr id="26" name="Shape 24"/>
          <p:cNvSpPr/>
          <p:nvPr/>
        </p:nvSpPr>
        <p:spPr>
          <a:xfrm>
            <a:off x="1234440" y="3840480"/>
            <a:ext cx="54864" cy="777240"/>
          </a:xfrm>
          <a:prstGeom prst="rect">
            <a:avLst/>
          </a:prstGeom>
          <a:solidFill>
            <a:srgbClr val="EC1B34"/>
          </a:solidFill>
          <a:ln/>
        </p:spPr>
      </p:sp>
      <p:sp>
        <p:nvSpPr>
          <p:cNvPr id="27" name="Text 25"/>
          <p:cNvSpPr/>
          <p:nvPr/>
        </p:nvSpPr>
        <p:spPr>
          <a:xfrm>
            <a:off x="1463040" y="3886200"/>
            <a:ext cx="6675120" cy="685800"/>
          </a:xfrm>
          <a:prstGeom prst="rect">
            <a:avLst/>
          </a:prstGeom>
          <a:noFill/>
          <a:ln/>
        </p:spPr>
        <p:txBody>
          <a:bodyPr wrap="square" rtlCol="0" anchor="ctr"/>
          <a:lstStyle/>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Rob: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FL-5, FL-6, #4477, #4436, NS-1.1 discovery</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Millicent: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Start FL-1/FL-2, ship #4586, fix #4567</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Bea: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First PR merged (#4636 or #4498), start #4565 and #4369</a:t>
            </a:r>
            <a:endParaRPr lang="en-US" sz="1100" dirty="0"/>
          </a:p>
        </p:txBody>
      </p:sp>
      <p:pic>
        <p:nvPicPr>
          <p:cNvPr id="2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0" name="Text 26"/>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1" name="Text 27"/>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1B34"/>
          </a:solidFill>
          <a:ln/>
        </p:spPr>
      </p:sp>
      <p:sp>
        <p:nvSpPr>
          <p:cNvPr id="3" name="Shape 1"/>
          <p:cNvSpPr/>
          <p:nvPr/>
        </p:nvSpPr>
        <p:spPr>
          <a:xfrm>
            <a:off x="6400800" y="457200"/>
            <a:ext cx="2743200" cy="4686300"/>
          </a:xfrm>
          <a:prstGeom prst="rect">
            <a:avLst/>
          </a:prstGeom>
          <a:solidFill>
            <a:srgbClr val="EC1B34">
              <a:alpha val="15000"/>
            </a:srgbClr>
          </a:solidFill>
          <a:ln/>
        </p:spPr>
      </p:sp>
      <p:pic>
        <p:nvPicPr>
          <p:cNvPr id="4" name="Image 0" descr="preencoded.png">    </p:cNvPr>
          <p:cNvPicPr>
            <a:picLocks noChangeAspect="1"/>
          </p:cNvPicPr>
          <p:nvPr/>
        </p:nvPicPr>
        <p:blipFill>
          <a:blip r:embed="rId1"/>
          <a:stretch>
            <a:fillRect/>
          </a:stretch>
        </p:blipFill>
        <p:spPr>
          <a:xfrm>
            <a:off x="7498080" y="1645920"/>
            <a:ext cx="1097280" cy="1737360"/>
          </a:xfrm>
          <a:prstGeom prst="rect">
            <a:avLst/>
          </a:prstGeom>
        </p:spPr>
      </p:pic>
      <p:sp>
        <p:nvSpPr>
          <p:cNvPr id="5" name="Text 2"/>
          <p:cNvSpPr/>
          <p:nvPr/>
        </p:nvSpPr>
        <p:spPr>
          <a:xfrm>
            <a:off x="457200" y="365760"/>
            <a:ext cx="1371600" cy="1371600"/>
          </a:xfrm>
          <a:prstGeom prst="rect">
            <a:avLst/>
          </a:prstGeom>
          <a:noFill/>
          <a:ln/>
        </p:spPr>
        <p:txBody>
          <a:bodyPr wrap="square" lIns="0" tIns="0" rIns="0" bIns="0" rtlCol="0" anchor="ctr"/>
          <a:lstStyle/>
          <a:p>
            <a:pPr indent="0" marL="0">
              <a:buNone/>
            </a:pPr>
            <a:r>
              <a:rPr lang="en-US" sz="12000" b="1" dirty="0">
                <a:solidFill>
                  <a:srgbClr val="EC1B34"/>
                </a:solidFill>
                <a:latin typeface="Georgia" pitchFamily="34" charset="0"/>
                <a:ea typeface="Georgia" pitchFamily="34" charset="-122"/>
                <a:cs typeface="Georgia" pitchFamily="34" charset="-120"/>
              </a:rPr>
              <a:t>“</a:t>
            </a:r>
            <a:endParaRPr lang="en-US" sz="12000" dirty="0"/>
          </a:p>
        </p:txBody>
      </p:sp>
      <p:sp>
        <p:nvSpPr>
          <p:cNvPr id="6" name="Text 3"/>
          <p:cNvSpPr/>
          <p:nvPr/>
        </p:nvSpPr>
        <p:spPr>
          <a:xfrm>
            <a:off x="731520" y="1371600"/>
            <a:ext cx="5943600" cy="731520"/>
          </a:xfrm>
          <a:prstGeom prst="rect">
            <a:avLst/>
          </a:prstGeom>
          <a:noFill/>
          <a:ln/>
        </p:spPr>
        <p:txBody>
          <a:bodyPr wrap="square" lIns="0" tIns="0" rIns="0" bIns="0" rtlCol="0" anchor="ctr"/>
          <a:lstStyle/>
          <a:p>
            <a:pPr indent="0" marL="0">
              <a:buNone/>
            </a:pPr>
            <a:r>
              <a:rPr lang="en-US" sz="2000" i="1" dirty="0">
                <a:solidFill>
                  <a:srgbClr val="C8CDD0"/>
                </a:solidFill>
                <a:latin typeface="Georgia" pitchFamily="34" charset="0"/>
                <a:ea typeface="Georgia" pitchFamily="34" charset="-122"/>
                <a:cs typeface="Georgia" pitchFamily="34" charset="-120"/>
              </a:rPr>
              <a:t>Ah, breaker one-nine, this here's the Rubber Duck...</a:t>
            </a:r>
            <a:endParaRPr lang="en-US" sz="2000" dirty="0"/>
          </a:p>
        </p:txBody>
      </p:sp>
      <p:sp>
        <p:nvSpPr>
          <p:cNvPr id="7" name="Text 4"/>
          <p:cNvSpPr/>
          <p:nvPr/>
        </p:nvSpPr>
        <p:spPr>
          <a:xfrm>
            <a:off x="731520" y="2194560"/>
            <a:ext cx="5669280" cy="10972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Doug — </a:t>
            </a:r>
            <a:pPr indent="0" marL="0">
              <a:buNone/>
            </a:pPr>
            <a:r>
              <a:rPr lang="en-US" sz="1600" dirty="0">
                <a:solidFill>
                  <a:srgbClr val="E4E9EC"/>
                </a:solidFill>
                <a:latin typeface="Calibri" pitchFamily="34" charset="0"/>
                <a:ea typeface="Calibri" pitchFamily="34" charset="-122"/>
                <a:cs typeface="Calibri" pitchFamily="34" charset="-120"/>
              </a:rPr>
              <a:t>you built the road we're all driving on now. 47 tickets, an entire Orders frontend, and the foundation this team will build on for years.</a:t>
            </a:r>
            <a:endParaRPr lang="en-US" sz="2200" dirty="0"/>
          </a:p>
        </p:txBody>
      </p:sp>
      <p:sp>
        <p:nvSpPr>
          <p:cNvPr id="8" name="Text 5"/>
          <p:cNvSpPr/>
          <p:nvPr/>
        </p:nvSpPr>
        <p:spPr>
          <a:xfrm>
            <a:off x="731520" y="3337560"/>
            <a:ext cx="5669280" cy="457200"/>
          </a:xfrm>
          <a:prstGeom prst="rect">
            <a:avLst/>
          </a:prstGeom>
          <a:noFill/>
          <a:ln/>
        </p:spPr>
        <p:txBody>
          <a:bodyPr wrap="square" lIns="0" tIns="0" rIns="0" bIns="0" rtlCol="0" anchor="ctr"/>
          <a:lstStyle/>
          <a:p>
            <a:pPr indent="0" marL="0">
              <a:buNone/>
            </a:pPr>
            <a:r>
              <a:rPr lang="en-US" sz="1800" i="1" dirty="0">
                <a:solidFill>
                  <a:srgbClr val="C8CDD0"/>
                </a:solidFill>
                <a:latin typeface="Calibri" pitchFamily="34" charset="0"/>
                <a:ea typeface="Calibri" pitchFamily="34" charset="-122"/>
                <a:cs typeface="Calibri" pitchFamily="34" charset="-120"/>
              </a:rPr>
              <a:t>Time to set off on a new highway of discovery.</a:t>
            </a:r>
            <a:endParaRPr lang="en-US" sz="1800" dirty="0"/>
          </a:p>
        </p:txBody>
      </p:sp>
      <p:sp>
        <p:nvSpPr>
          <p:cNvPr id="9" name="Shape 6"/>
          <p:cNvSpPr/>
          <p:nvPr/>
        </p:nvSpPr>
        <p:spPr>
          <a:xfrm>
            <a:off x="731520" y="3886200"/>
            <a:ext cx="5029200" cy="36576"/>
          </a:xfrm>
          <a:prstGeom prst="rect">
            <a:avLst/>
          </a:prstGeom>
          <a:solidFill>
            <a:srgbClr val="EC1B34"/>
          </a:solidFill>
          <a:ln/>
        </p:spPr>
      </p:sp>
      <p:sp>
        <p:nvSpPr>
          <p:cNvPr id="10" name="Text 7"/>
          <p:cNvSpPr/>
          <p:nvPr/>
        </p:nvSpPr>
        <p:spPr>
          <a:xfrm>
            <a:off x="731520" y="4023360"/>
            <a:ext cx="5943600" cy="274320"/>
          </a:xfrm>
          <a:prstGeom prst="rect">
            <a:avLst/>
          </a:prstGeom>
          <a:noFill/>
          <a:ln/>
        </p:spPr>
        <p:txBody>
          <a:bodyPr wrap="square" lIns="0" tIns="0" rIns="0" bIns="0" rtlCol="0" anchor="ctr"/>
          <a:lstStyle/>
          <a:p>
            <a:pPr indent="0" marL="0">
              <a:buNone/>
            </a:pPr>
            <a:r>
              <a:rPr lang="en-US" sz="1100" i="1" dirty="0">
                <a:solidFill>
                  <a:srgbClr val="7A8A96"/>
                </a:solidFill>
                <a:latin typeface="Calibri" pitchFamily="34" charset="0"/>
                <a:ea typeface="Calibri" pitchFamily="34" charset="-122"/>
                <a:cs typeface="Calibri" pitchFamily="34" charset="-120"/>
              </a:rPr>
              <a:t>"We got a great big convoy, rockin' through the night"</a:t>
            </a:r>
            <a:pPr indent="0" marL="0">
              <a:buNone/>
            </a:pPr>
            <a:r>
              <a:rPr lang="en-US" sz="1100" dirty="0">
                <a:solidFill>
                  <a:srgbClr val="7A8A96"/>
                </a:solidFill>
                <a:latin typeface="Calibri" pitchFamily="34" charset="0"/>
                <a:ea typeface="Calibri" pitchFamily="34" charset="-122"/>
                <a:cs typeface="Calibri" pitchFamily="34" charset="-120"/>
              </a:rPr>
              <a:t>  —  </a:t>
            </a:r>
            <a:pPr indent="0" marL="0">
              <a:buNone/>
            </a:pPr>
            <a:r>
              <a:rPr lang="en-US" sz="1100" dirty="0">
                <a:solidFill>
                  <a:srgbClr val="7A8A96"/>
                </a:solidFill>
                <a:latin typeface="Calibri" pitchFamily="34" charset="0"/>
                <a:ea typeface="Calibri" pitchFamily="34" charset="-122"/>
                <a:cs typeface="Calibri" pitchFamily="34" charset="-120"/>
              </a:rPr>
              <a:t>C.W. McCall, Convoy (1978)</a:t>
            </a:r>
            <a:endParaRPr lang="en-US" sz="1100" dirty="0"/>
          </a:p>
        </p:txBody>
      </p:sp>
      <p:pic>
        <p:nvPicPr>
          <p:cNvPr id="12" name="Image 1" descr="preencoded.png">    </p:cNvPr>
          <p:cNvPicPr>
            <a:picLocks noChangeAspect="1"/>
          </p:cNvPicPr>
          <p:nvPr/>
        </p:nvPicPr>
        <p:blipFill>
          <a:blip r:embed="rId2"/>
          <a:stretch>
            <a:fillRect/>
          </a:stretch>
        </p:blipFill>
        <p:spPr>
          <a:xfrm>
            <a:off x="731520" y="4572000"/>
            <a:ext cx="1645920" cy="329184"/>
          </a:xfrm>
          <a:prstGeom prst="rect">
            <a:avLst/>
          </a:prstGeom>
        </p:spPr>
      </p:pic>
      <p:sp>
        <p:nvSpPr>
          <p:cNvPr id="13" name="Text 8"/>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Monday Meeting Prep — Sprint 3 Status</dc:title>
  <dc:subject>PptxGenJS Presentation</dc:subject>
  <dc:creator>Rob Wilde</dc:creator>
  <cp:lastModifiedBy>Rob Wilde</cp:lastModifiedBy>
  <cp:revision>1</cp:revision>
  <dcterms:created xsi:type="dcterms:W3CDTF">2026-04-13T00:26:15Z</dcterms:created>
  <dcterms:modified xsi:type="dcterms:W3CDTF">2026-04-13T00:26:15Z</dcterms:modified>
</cp:coreProperties>
</file>