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TITLE SLIDE
- Welcome everyone, thanks for making time on a Monday
- Three things to cover today: where Sprint 3 stands after the NS breach, Doug's handover, and a check-in on our quarterly priorities
- This is Doug's last meeting with leadership so we want to make sure we capture everything we need from him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AGENDA
- 7 items to get through — should take about 20-25 minutes
- We'll start with recognising Doug's work, then move into sprint health
- The back half is forward-looking: quarterly priorities, backlog triage, and actions we need agreement on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DOUG'S LEGACY
- Doug closed 47 issues over ~6 months — he essentially built the entire Orders frontend from scratch
- The big items: orders table, create/view/edit/cancel/schedule flows, pricing, invoicing, charts, filtering, exports
- He also built the year-over-year comparison charts, organisation side panel, mobile forms, and the feature flag gating system
HANDOVER CONCERNS:
- 10 tickets still assigned to him — need to reassign today
- The big one is #4526 (decouple leases from orders) — this is architecturally complex and Doug has context nobody else has
- 3 Rainforest QA E2E test tickets (#4473-4475) could be grouped into one effort for Bea
- #4636 (remove rolled-out feature flags) is a good starter ticket for Bea — low risk, gets her a quick first PR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SPRINT 3 VELOCITY — NS BREACH IMPACT
- The honest truth: Week 1 of Sprint 3 was completely consumed by the NetSuite security breach
- I personally closed 12 of the 14 items since Apr 3 — all reactive: auth failures, subsidiary mismatches, invoice backfill 404s, phone number sanitisation, observability fixes
- Millicent closed 2 bug fixes (contract brewer order/transfer date issues)
- Bea hasn't closed any yet — she's still ramping up, which is expected
THE NUMBERS:
- Sprint 2 did 47 items in 2 weeks for comparison
- Zero planned Sprint 3 goals have been completed — no Fuel Levy progress, no review backlog cleared
- We have 7 working days left and Day 8 scope freeze is coming
- Effectively this is a 1-week sprint for any planned work
QUESTION FOR LEADERSHIP: Do we extend Sprint 3 by a week to account for the breach, or accept reduced output and carry forward?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LOAD &amp; ASSIGNMENTS
- I'm at 53 open issues — sustainable is around 22 SP per sprint. This is the main risk to the team right now.
- 44 of my items have no milestone, meaning they're accumulating without a clear sprint home
- Millicent is at 30 but has capacity — she's the right person to absorb Fuel Levy backend tickets (FL-1 to FL-3)
- Bea has 33 total but 12 in the current sprint, which is too many for someone onboarding. Recommend trimming to 3-4 realistic targets
- Doug's 7 sprint items all need reassignment before he leaves — that's a decision we need to make today
- 49 unassigned items include critical FL blockers and the 28 design-feedback tickets from the recent review
KEY POINT: Millicent has capacity. She should take on FL backend work immediately.
KEY POINT: Bea needs fewer items, not more. Focus her on quick wins to build confidence.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QUARTERLY PRIORITIES — STATUS CHECK
1. FUEL SURCHARGE (Behind)
- This is the #1 business priority from CEO/COO
- 14 tickets total. The problem: FL-1 through FL-4 (the backend foundation) are UNASSIGNED
- My FL-5 (CRUD API) and FL-6 (NS invoice integration) are blocked until FL-2 and FL-3 are done
- All of Bea's frontend work (FL-7 to FL-10) is blocked on the backend being complete
- DECISION NEEDED: Assign FL-1 to FL-3 to Millicent today. This unblocks the entire chain.
2. ORDERS EXPERIENCE (Progressing)
- Doug built the core — 47 tickets of foundation work. Bea now owns the epic (#4377)
- 28 new design-feedback tickets landed in backlog from a recent design review session
- 3 new sub-epics created: Rentals List improvements, Rental Form improvements, Order Detail improvements
- These are good ideas but they're scope creep risk — we need to pick 3-5 for Sprint 4 and park the rest
3. REFILLS IN CLOUD (Not Started)
- 6 sub-tickets under NS Epic 1. The discovery ticket (#4309) has been sitting since Sprint 1
- It depends on NS Epic 0 Foundation (#4296) which is also still open
- I need to complete the NS-1.1 discovery this sprint to unblock Millicent on the implementation tickets
- Realistic timeline for full implementation: Sprint 4-5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BACKLOG — 48 UNASSIGNED ITEMS
- These cluster into natural groups, which makes triage much easier
DESIGN FEEDBACK (28 items):
- All from a recent design review. Three parent epics already exist: Rentals List (#4587), Rental Form (#4598), Order Detail (#4606)
- Recommend we triage these as a batch with leadership — pick 3-5 high-impact ones for Sprint 4, backlog the rest
- None of these are urgent but they're good UX improvements
NS AUDIT (4 unassigned):
- Token rotation tasks #4536-4539. These are compliance-driven, not tech debt
- Could be a focused half-day for me and Millicent
FUEL LEVY BACKEND (4 unassigned):
- FL-1 to FL-4 — these are the critical blockers I keep mentioning. Assign to Millicent.
LEGACY CLEANUP (3 items):
- Remove SSID Bank refs, Sigfox device refs, consolidate default tenant
- Good for a "tech debt day" — low risk, cleans up the codebase
PERFORMANCE (2 items):
- Global search is taking 11+ seconds, assets query is slow
- Not sprint-critical but worth a paired session when we have a gap
OTHER (7 items):
- Misc backlog: cutoff time for orders, unschedule endpoint, billing email backpopulate etc.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DOUG HANDOVER CHECKLIST
- This is the practical stuff we need to nail before Doug walks out
MUST DO:
1. Confirm all 10 open tickets have enough detail for Bea — descriptions, acceptance criteria, any gotchas
2. Deep-dive on #4526 (lease decoupling) — this is the biggest risk. It's architecturally complex and touches how orders and leases are structured. If Doug doesn't explain this, we'll lose weeks figuring it out
3. Rainforest QA test access — make sure credentials and setup docs are in the wiki/SharePoint
4. Handover recordings in SharePoint → Development → Recordings — confirm they're all there and watchable
ASK DOUG:
- Is there any undocumented knowledge about the Orders frontend state management? Any quirks, workarounds, or "don't touch this" areas that aren't in the code comments?
NICE TO HAVE:
- Group the 3 Rainforest QA tickets into one effort — they're related and Bea can tackle them together
- Reassign #4636 (feature flag cleanup) to Bea right now — it's a perfect first ticket, low risk, well-defined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RECOMMENDED ACTIONS — DECISIONS NEEDED TODAY
1. Reassign Doug's 10 tickets — suggest 7 to Bea (all frontend), 3 QA tickets grouped as one effort
2. Assign FL-1 to FL-4 to Millicent — this is the single most important action. It unblocks the entire Fuel Levy feature chain
3. Timebox NS Audit — the security audit has 13 open sub-tasks competing with quarterly priorities for my time. Need leadership to agree on a budget, e.g. 3 SP per sprint, so it doesn't consume everything
4. Clean Sprint 1 milestone — 10 items still sitting there from mid-March. Move to current sprint or close
5. Triage design-feedback batch — 28 tickets from design review. Pick 3-5 high-impact for Sprint 4, park the rest
6. My scope reduction — 53 open items is not sustainable. I need to identify 10+ items to defer or delegate. Would appreciate leadership input on what to deprioritise
7. Revised Sprint 3 goals given the lost week:
   - Rob: FL-5, FL-6, fix null billing emails (#4477), upgrade mailchimp (#4436), NS-1.1 discovery
   - Millicent: Start FL-1/FL-2, ship scheduled order updates (#4586), fix Twig error (#4567)
   - Bea: Get first PR merged (#4636 or #4498), then start consignment visibility (#4565) and email indicator (#4369)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DOUG'S FAREWELL
- Take a moment to acknowledge Doug's contribution
- He joined when Orders was just a concept and built the entire frontend from the ground up
- 47 closed tickets in 6 months — the orders table, every CRUD flow, charts, filters, invoicing, mobile forms
- The foundation Bea and the team will be building on for the foreseeable future
- The Convoy reference: the cofounders named the company after the 1978 movie — felt right to send Doug off on his own convoy
- Wish him well on whatever comes next — he's earned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1.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41B"/>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Shape 1"/>
          <p:cNvSpPr/>
          <p:nvPr/>
        </p:nvSpPr>
        <p:spPr>
          <a:xfrm>
            <a:off x="0" y="1371600"/>
            <a:ext cx="109728" cy="2286000"/>
          </a:xfrm>
          <a:prstGeom prst="rect">
            <a:avLst/>
          </a:prstGeom>
          <a:solidFill>
            <a:srgbClr val="EC1B34"/>
          </a:solidFill>
          <a:ln/>
        </p:spPr>
      </p:sp>
      <p:pic>
        <p:nvPicPr>
          <p:cNvPr id="4" name="Image 0" descr="preencoded.png">    </p:cNvPr>
          <p:cNvPicPr>
            <a:picLocks noChangeAspect="1"/>
          </p:cNvPicPr>
          <p:nvPr/>
        </p:nvPicPr>
        <p:blipFill>
          <a:blip r:embed="rId1"/>
          <a:stretch>
            <a:fillRect/>
          </a:stretch>
        </p:blipFill>
        <p:spPr>
          <a:xfrm>
            <a:off x="6217920" y="274320"/>
            <a:ext cx="2286000" cy="457200"/>
          </a:xfrm>
          <a:prstGeom prst="rect">
            <a:avLst/>
          </a:prstGeom>
        </p:spPr>
      </p:pic>
      <p:sp>
        <p:nvSpPr>
          <p:cNvPr id="5" name="Text 2"/>
          <p:cNvSpPr/>
          <p:nvPr/>
        </p:nvSpPr>
        <p:spPr>
          <a:xfrm>
            <a:off x="731520" y="1371600"/>
            <a:ext cx="7680960" cy="1097280"/>
          </a:xfrm>
          <a:prstGeom prst="rect">
            <a:avLst/>
          </a:prstGeom>
          <a:noFill/>
          <a:ln/>
        </p:spPr>
        <p:txBody>
          <a:bodyPr wrap="square" lIns="0" tIns="0" rIns="0" bIns="0" rtlCol="0" anchor="ctr"/>
          <a:lstStyle/>
          <a:p>
            <a:pPr indent="0" marL="0">
              <a:buNone/>
            </a:pPr>
            <a:r>
              <a:rPr lang="en-US" sz="4400" b="1" dirty="0">
                <a:solidFill>
                  <a:srgbClr val="FFFFFF"/>
                </a:solidFill>
                <a:latin typeface="Montserrat" pitchFamily="34" charset="0"/>
                <a:ea typeface="Montserrat" pitchFamily="34" charset="-122"/>
                <a:cs typeface="Montserrat" pitchFamily="34" charset="-120"/>
              </a:rPr>
              <a:t>Monday Meeting Prep</a:t>
            </a:r>
            <a:endParaRPr lang="en-US" sz="4400" dirty="0"/>
          </a:p>
        </p:txBody>
      </p:sp>
      <p:sp>
        <p:nvSpPr>
          <p:cNvPr id="6" name="Text 3"/>
          <p:cNvSpPr/>
          <p:nvPr/>
        </p:nvSpPr>
        <p:spPr>
          <a:xfrm>
            <a:off x="731520" y="2468880"/>
            <a:ext cx="7680960" cy="548640"/>
          </a:xfrm>
          <a:prstGeom prst="rect">
            <a:avLst/>
          </a:prstGeom>
          <a:noFill/>
          <a:ln/>
        </p:spPr>
        <p:txBody>
          <a:bodyPr wrap="square" lIns="0" tIns="0" rIns="0" bIns="0" rtlCol="0" anchor="ctr"/>
          <a:lstStyle/>
          <a:p>
            <a:pPr indent="0" marL="0">
              <a:buNone/>
            </a:pPr>
            <a:r>
              <a:rPr lang="en-US" sz="1800" dirty="0">
                <a:solidFill>
                  <a:srgbClr val="C8CDD0"/>
                </a:solidFill>
                <a:latin typeface="Calibri" pitchFamily="34" charset="0"/>
                <a:ea typeface="Calibri" pitchFamily="34" charset="-122"/>
                <a:cs typeface="Calibri" pitchFamily="34" charset="-120"/>
              </a:rPr>
              <a:t>Sprint 3 Status  ·  Doug Farewell  ·  Quarterly Priorities</a:t>
            </a:r>
            <a:endParaRPr lang="en-US" sz="1800" dirty="0"/>
          </a:p>
        </p:txBody>
      </p:sp>
      <p:sp>
        <p:nvSpPr>
          <p:cNvPr id="7" name="Text 4"/>
          <p:cNvSpPr/>
          <p:nvPr/>
        </p:nvSpPr>
        <p:spPr>
          <a:xfrm>
            <a:off x="731520" y="3200400"/>
            <a:ext cx="7680960" cy="457200"/>
          </a:xfrm>
          <a:prstGeom prst="rect">
            <a:avLst/>
          </a:prstGeom>
          <a:noFill/>
          <a:ln/>
        </p:spPr>
        <p:txBody>
          <a:bodyPr wrap="square" lIns="0" tIns="0" rIns="0" bIns="0" rtlCol="0" anchor="ctr"/>
          <a:lstStyle/>
          <a:p>
            <a:pPr indent="0" marL="0">
              <a:buNone/>
            </a:pPr>
            <a:r>
              <a:rPr lang="en-US" sz="1400" dirty="0">
                <a:solidFill>
                  <a:srgbClr val="7A8A96"/>
                </a:solidFill>
                <a:latin typeface="Calibri" pitchFamily="34" charset="0"/>
                <a:ea typeface="Calibri" pitchFamily="34" charset="-122"/>
                <a:cs typeface="Calibri" pitchFamily="34" charset="-120"/>
              </a:rPr>
              <a:t>April 13, 2026</a:t>
            </a:r>
            <a:endParaRPr lang="en-US" sz="1400" dirty="0"/>
          </a:p>
        </p:txBody>
      </p:sp>
      <p:pic>
        <p:nvPicPr>
          <p:cNvPr id="8" name="Image 1" descr="preencoded.png">    </p:cNvPr>
          <p:cNvPicPr>
            <a:picLocks noChangeAspect="1"/>
          </p:cNvPicPr>
          <p:nvPr/>
        </p:nvPicPr>
        <p:blipFill>
          <a:blip r:embed="rId2"/>
          <a:stretch>
            <a:fillRect/>
          </a:stretch>
        </p:blipFill>
        <p:spPr>
          <a:xfrm>
            <a:off x="7863840" y="3657600"/>
            <a:ext cx="640080" cy="1005840"/>
          </a:xfrm>
          <a:prstGeom prst="rect">
            <a:avLst/>
          </a:prstGeom>
        </p:spPr>
      </p:pic>
      <p:pic>
        <p:nvPicPr>
          <p:cNvPr id="10" name="Image 2" descr="preencoded.png">    </p:cNvPr>
          <p:cNvPicPr>
            <a:picLocks noChangeAspect="1"/>
          </p:cNvPicPr>
          <p:nvPr/>
        </p:nvPicPr>
        <p:blipFill>
          <a:blip r:embed="rId3"/>
          <a:stretch>
            <a:fillRect/>
          </a:stretch>
        </p:blipFill>
        <p:spPr>
          <a:xfrm>
            <a:off x="365760" y="4617720"/>
            <a:ext cx="228600" cy="365760"/>
          </a:xfrm>
          <a:prstGeom prst="rect">
            <a:avLst/>
          </a:prstGeom>
        </p:spPr>
      </p:pic>
      <p:sp>
        <p:nvSpPr>
          <p:cNvPr id="11" name="Text 5"/>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12" name="Text 6"/>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1 / 10</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3400" b="1" dirty="0">
                <a:solidFill>
                  <a:srgbClr val="FFFFFF"/>
                </a:solidFill>
                <a:latin typeface="Montserrat" pitchFamily="34" charset="0"/>
                <a:ea typeface="Montserrat" pitchFamily="34" charset="-122"/>
                <a:cs typeface="Montserrat" pitchFamily="34" charset="-120"/>
              </a:rPr>
              <a:t>Agenda</a:t>
            </a:r>
            <a:endParaRPr lang="en-US" sz="3400" dirty="0"/>
          </a:p>
        </p:txBody>
      </p:sp>
      <p:sp>
        <p:nvSpPr>
          <p:cNvPr id="4" name="Shape 2"/>
          <p:cNvSpPr/>
          <p:nvPr/>
        </p:nvSpPr>
        <p:spPr>
          <a:xfrm>
            <a:off x="731520" y="1143000"/>
            <a:ext cx="384048" cy="384048"/>
          </a:xfrm>
          <a:prstGeom prst="ellipse">
            <a:avLst/>
          </a:prstGeom>
          <a:solidFill>
            <a:srgbClr val="EC1B34"/>
          </a:solidFill>
          <a:ln/>
        </p:spPr>
      </p:sp>
      <p:sp>
        <p:nvSpPr>
          <p:cNvPr id="5" name="Text 3"/>
          <p:cNvSpPr/>
          <p:nvPr/>
        </p:nvSpPr>
        <p:spPr>
          <a:xfrm>
            <a:off x="731520" y="114300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6" name="Text 4"/>
          <p:cNvSpPr/>
          <p:nvPr/>
        </p:nvSpPr>
        <p:spPr>
          <a:xfrm>
            <a:off x="1325880" y="1124712"/>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Doug's Legacy</a:t>
            </a:r>
            <a:endParaRPr lang="en-US" sz="1500" dirty="0"/>
          </a:p>
        </p:txBody>
      </p:sp>
      <p:sp>
        <p:nvSpPr>
          <p:cNvPr id="7" name="Text 5"/>
          <p:cNvSpPr/>
          <p:nvPr/>
        </p:nvSpPr>
        <p:spPr>
          <a:xfrm>
            <a:off x="1325880" y="1344168"/>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47 closed tickets, 10 open for handover</a:t>
            </a:r>
            <a:endParaRPr lang="en-US" sz="1100" dirty="0"/>
          </a:p>
        </p:txBody>
      </p:sp>
      <p:sp>
        <p:nvSpPr>
          <p:cNvPr id="8" name="Shape 6"/>
          <p:cNvSpPr/>
          <p:nvPr/>
        </p:nvSpPr>
        <p:spPr>
          <a:xfrm>
            <a:off x="731520" y="1673352"/>
            <a:ext cx="384048" cy="384048"/>
          </a:xfrm>
          <a:prstGeom prst="ellipse">
            <a:avLst/>
          </a:prstGeom>
          <a:solidFill>
            <a:srgbClr val="EC1B34"/>
          </a:solidFill>
          <a:ln/>
        </p:spPr>
      </p:sp>
      <p:sp>
        <p:nvSpPr>
          <p:cNvPr id="9" name="Text 7"/>
          <p:cNvSpPr/>
          <p:nvPr/>
        </p:nvSpPr>
        <p:spPr>
          <a:xfrm>
            <a:off x="731520" y="167335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p:nvPr/>
        </p:nvSpPr>
        <p:spPr>
          <a:xfrm>
            <a:off x="1325880" y="1655064"/>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Sprint 3 Velocity</a:t>
            </a:r>
            <a:endParaRPr lang="en-US" sz="1500" dirty="0"/>
          </a:p>
        </p:txBody>
      </p:sp>
      <p:sp>
        <p:nvSpPr>
          <p:cNvPr id="11" name="Text 9"/>
          <p:cNvSpPr/>
          <p:nvPr/>
        </p:nvSpPr>
        <p:spPr>
          <a:xfrm>
            <a:off x="1325880" y="1874520"/>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NS breach impact, what's actually moved</a:t>
            </a:r>
            <a:endParaRPr lang="en-US" sz="1100" dirty="0"/>
          </a:p>
        </p:txBody>
      </p:sp>
      <p:sp>
        <p:nvSpPr>
          <p:cNvPr id="12" name="Shape 10"/>
          <p:cNvSpPr/>
          <p:nvPr/>
        </p:nvSpPr>
        <p:spPr>
          <a:xfrm>
            <a:off x="731520" y="2203704"/>
            <a:ext cx="384048" cy="384048"/>
          </a:xfrm>
          <a:prstGeom prst="ellipse">
            <a:avLst/>
          </a:prstGeom>
          <a:solidFill>
            <a:srgbClr val="EC1B34"/>
          </a:solidFill>
          <a:ln/>
        </p:spPr>
      </p:sp>
      <p:sp>
        <p:nvSpPr>
          <p:cNvPr id="13" name="Text 11"/>
          <p:cNvSpPr/>
          <p:nvPr/>
        </p:nvSpPr>
        <p:spPr>
          <a:xfrm>
            <a:off x="731520" y="2203704"/>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4" name="Text 12"/>
          <p:cNvSpPr/>
          <p:nvPr/>
        </p:nvSpPr>
        <p:spPr>
          <a:xfrm>
            <a:off x="1325880" y="2185416"/>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Current Assignments</a:t>
            </a:r>
            <a:endParaRPr lang="en-US" sz="1500" dirty="0"/>
          </a:p>
        </p:txBody>
      </p:sp>
      <p:sp>
        <p:nvSpPr>
          <p:cNvPr id="15" name="Text 13"/>
          <p:cNvSpPr/>
          <p:nvPr/>
        </p:nvSpPr>
        <p:spPr>
          <a:xfrm>
            <a:off x="1325880" y="2404872"/>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What's underway, what's blocked</a:t>
            </a:r>
            <a:endParaRPr lang="en-US" sz="1100" dirty="0"/>
          </a:p>
        </p:txBody>
      </p:sp>
      <p:sp>
        <p:nvSpPr>
          <p:cNvPr id="16" name="Shape 14"/>
          <p:cNvSpPr/>
          <p:nvPr/>
        </p:nvSpPr>
        <p:spPr>
          <a:xfrm>
            <a:off x="731520" y="2734056"/>
            <a:ext cx="384048" cy="384048"/>
          </a:xfrm>
          <a:prstGeom prst="ellipse">
            <a:avLst/>
          </a:prstGeom>
          <a:solidFill>
            <a:srgbClr val="EC1B34"/>
          </a:solidFill>
          <a:ln/>
        </p:spPr>
      </p:sp>
      <p:sp>
        <p:nvSpPr>
          <p:cNvPr id="17" name="Text 15"/>
          <p:cNvSpPr/>
          <p:nvPr/>
        </p:nvSpPr>
        <p:spPr>
          <a:xfrm>
            <a:off x="731520" y="2734056"/>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6"/>
          <p:cNvSpPr/>
          <p:nvPr/>
        </p:nvSpPr>
        <p:spPr>
          <a:xfrm>
            <a:off x="1325880" y="2715768"/>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Quarterly Priorities</a:t>
            </a:r>
            <a:endParaRPr lang="en-US" sz="1500" dirty="0"/>
          </a:p>
        </p:txBody>
      </p:sp>
      <p:sp>
        <p:nvSpPr>
          <p:cNvPr id="19" name="Text 17"/>
          <p:cNvSpPr/>
          <p:nvPr/>
        </p:nvSpPr>
        <p:spPr>
          <a:xfrm>
            <a:off x="1325880" y="2935224"/>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Fuel Levy · Orders Experience · Refills</a:t>
            </a:r>
            <a:endParaRPr lang="en-US" sz="1100" dirty="0"/>
          </a:p>
        </p:txBody>
      </p:sp>
      <p:sp>
        <p:nvSpPr>
          <p:cNvPr id="20" name="Shape 18"/>
          <p:cNvSpPr/>
          <p:nvPr/>
        </p:nvSpPr>
        <p:spPr>
          <a:xfrm>
            <a:off x="731520" y="3264408"/>
            <a:ext cx="384048" cy="384048"/>
          </a:xfrm>
          <a:prstGeom prst="ellipse">
            <a:avLst/>
          </a:prstGeom>
          <a:solidFill>
            <a:srgbClr val="EC1B34"/>
          </a:solidFill>
          <a:ln/>
        </p:spPr>
      </p:sp>
      <p:sp>
        <p:nvSpPr>
          <p:cNvPr id="21" name="Text 19"/>
          <p:cNvSpPr/>
          <p:nvPr/>
        </p:nvSpPr>
        <p:spPr>
          <a:xfrm>
            <a:off x="731520" y="3264408"/>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2" name="Text 20"/>
          <p:cNvSpPr/>
          <p:nvPr/>
        </p:nvSpPr>
        <p:spPr>
          <a:xfrm>
            <a:off x="1325880" y="3246120"/>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Backlog &amp; Grouping</a:t>
            </a:r>
            <a:endParaRPr lang="en-US" sz="1500" dirty="0"/>
          </a:p>
        </p:txBody>
      </p:sp>
      <p:sp>
        <p:nvSpPr>
          <p:cNvPr id="23" name="Text 21"/>
          <p:cNvSpPr/>
          <p:nvPr/>
        </p:nvSpPr>
        <p:spPr>
          <a:xfrm>
            <a:off x="1325880" y="3465576"/>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48 unassigned items, grouping opportunities</a:t>
            </a:r>
            <a:endParaRPr lang="en-US" sz="1100" dirty="0"/>
          </a:p>
        </p:txBody>
      </p:sp>
      <p:sp>
        <p:nvSpPr>
          <p:cNvPr id="24" name="Shape 22"/>
          <p:cNvSpPr/>
          <p:nvPr/>
        </p:nvSpPr>
        <p:spPr>
          <a:xfrm>
            <a:off x="731520" y="3794760"/>
            <a:ext cx="384048" cy="384048"/>
          </a:xfrm>
          <a:prstGeom prst="ellipse">
            <a:avLst/>
          </a:prstGeom>
          <a:solidFill>
            <a:srgbClr val="EC1B34"/>
          </a:solidFill>
          <a:ln/>
        </p:spPr>
      </p:sp>
      <p:sp>
        <p:nvSpPr>
          <p:cNvPr id="25" name="Text 23"/>
          <p:cNvSpPr/>
          <p:nvPr/>
        </p:nvSpPr>
        <p:spPr>
          <a:xfrm>
            <a:off x="731520" y="3794760"/>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6" name="Text 24"/>
          <p:cNvSpPr/>
          <p:nvPr/>
        </p:nvSpPr>
        <p:spPr>
          <a:xfrm>
            <a:off x="1325880" y="3776472"/>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Doug Handover Checklist</a:t>
            </a:r>
            <a:endParaRPr lang="en-US" sz="1500" dirty="0"/>
          </a:p>
        </p:txBody>
      </p:sp>
      <p:sp>
        <p:nvSpPr>
          <p:cNvPr id="27" name="Text 25"/>
          <p:cNvSpPr/>
          <p:nvPr/>
        </p:nvSpPr>
        <p:spPr>
          <a:xfrm>
            <a:off x="1325880" y="3995928"/>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Must-dos before Monday close</a:t>
            </a:r>
            <a:endParaRPr lang="en-US" sz="1100" dirty="0"/>
          </a:p>
        </p:txBody>
      </p:sp>
      <p:sp>
        <p:nvSpPr>
          <p:cNvPr id="28" name="Shape 26"/>
          <p:cNvSpPr/>
          <p:nvPr/>
        </p:nvSpPr>
        <p:spPr>
          <a:xfrm>
            <a:off x="731520" y="4325112"/>
            <a:ext cx="384048" cy="384048"/>
          </a:xfrm>
          <a:prstGeom prst="ellipse">
            <a:avLst/>
          </a:prstGeom>
          <a:solidFill>
            <a:srgbClr val="EC1B34"/>
          </a:solidFill>
          <a:ln/>
        </p:spPr>
      </p:sp>
      <p:sp>
        <p:nvSpPr>
          <p:cNvPr id="29" name="Text 27"/>
          <p:cNvSpPr/>
          <p:nvPr/>
        </p:nvSpPr>
        <p:spPr>
          <a:xfrm>
            <a:off x="731520" y="4325112"/>
            <a:ext cx="384048" cy="384048"/>
          </a:xfrm>
          <a:prstGeom prst="rect">
            <a:avLst/>
          </a:prstGeom>
          <a:noFill/>
          <a:ln/>
        </p:spPr>
        <p:txBody>
          <a:bodyPr wrap="square"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7</a:t>
            </a:r>
            <a:endParaRPr lang="en-US" sz="1400" dirty="0"/>
          </a:p>
        </p:txBody>
      </p:sp>
      <p:sp>
        <p:nvSpPr>
          <p:cNvPr id="30" name="Text 28"/>
          <p:cNvSpPr/>
          <p:nvPr/>
        </p:nvSpPr>
        <p:spPr>
          <a:xfrm>
            <a:off x="1325880" y="4306824"/>
            <a:ext cx="3200400" cy="228600"/>
          </a:xfrm>
          <a:prstGeom prst="rect">
            <a:avLst/>
          </a:prstGeom>
          <a:noFill/>
          <a:ln/>
        </p:spPr>
        <p:txBody>
          <a:bodyPr wrap="square" lIns="0" tIns="0" rIns="0" bIns="0" rtlCol="0" anchor="ctr"/>
          <a:lstStyle/>
          <a:p>
            <a:pPr indent="0" marL="0">
              <a:buNone/>
            </a:pPr>
            <a:r>
              <a:rPr lang="en-US" sz="1500" b="1" dirty="0">
                <a:solidFill>
                  <a:srgbClr val="FFFFFF"/>
                </a:solidFill>
                <a:latin typeface="Calibri" pitchFamily="34" charset="0"/>
                <a:ea typeface="Calibri" pitchFamily="34" charset="-122"/>
                <a:cs typeface="Calibri" pitchFamily="34" charset="-120"/>
              </a:rPr>
              <a:t>Recommended Actions</a:t>
            </a:r>
            <a:endParaRPr lang="en-US" sz="1500" dirty="0"/>
          </a:p>
        </p:txBody>
      </p:sp>
      <p:sp>
        <p:nvSpPr>
          <p:cNvPr id="31" name="Text 29"/>
          <p:cNvSpPr/>
          <p:nvPr/>
        </p:nvSpPr>
        <p:spPr>
          <a:xfrm>
            <a:off x="1325880" y="4526280"/>
            <a:ext cx="6858000" cy="201168"/>
          </a:xfrm>
          <a:prstGeom prst="rect">
            <a:avLst/>
          </a:prstGeom>
          <a:noFill/>
          <a:ln/>
        </p:spPr>
        <p:txBody>
          <a:bodyPr wrap="square" lIns="0" tIns="0" rIns="0" bIns="0" rtlCol="0" anchor="ctr"/>
          <a:lstStyle/>
          <a:p>
            <a:pPr indent="0" marL="0">
              <a:buNone/>
            </a:pPr>
            <a:r>
              <a:rPr lang="en-US" sz="1100" dirty="0">
                <a:solidFill>
                  <a:srgbClr val="7A8A96"/>
                </a:solidFill>
                <a:latin typeface="Calibri" pitchFamily="34" charset="0"/>
                <a:ea typeface="Calibri" pitchFamily="34" charset="-122"/>
                <a:cs typeface="Calibri" pitchFamily="34" charset="-120"/>
              </a:rPr>
              <a:t>7 decisions for Monday</a:t>
            </a:r>
            <a:endParaRPr lang="en-US" sz="1100" dirty="0"/>
          </a:p>
        </p:txBody>
      </p:sp>
      <p:pic>
        <p:nvPicPr>
          <p:cNvPr id="33"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34" name="Text 30"/>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35" name="Text 31"/>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2 / 10</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Doug's Legacy — Orders Frontend</a:t>
            </a:r>
            <a:endParaRPr lang="en-US" sz="2800" dirty="0"/>
          </a:p>
        </p:txBody>
      </p:sp>
      <p:sp>
        <p:nvSpPr>
          <p:cNvPr id="4" name="Shape 2"/>
          <p:cNvSpPr/>
          <p:nvPr/>
        </p:nvSpPr>
        <p:spPr>
          <a:xfrm>
            <a:off x="731520" y="1051560"/>
            <a:ext cx="2286000" cy="100584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5" name="Shape 3"/>
          <p:cNvSpPr/>
          <p:nvPr/>
        </p:nvSpPr>
        <p:spPr>
          <a:xfrm>
            <a:off x="731520" y="1051560"/>
            <a:ext cx="2286000" cy="36576"/>
          </a:xfrm>
          <a:prstGeom prst="rect">
            <a:avLst/>
          </a:prstGeom>
          <a:solidFill>
            <a:srgbClr val="22C55E"/>
          </a:solidFill>
          <a:ln/>
        </p:spPr>
      </p:sp>
      <p:sp>
        <p:nvSpPr>
          <p:cNvPr id="6" name="Text 4"/>
          <p:cNvSpPr/>
          <p:nvPr/>
        </p:nvSpPr>
        <p:spPr>
          <a:xfrm>
            <a:off x="731520" y="1143000"/>
            <a:ext cx="2286000" cy="502920"/>
          </a:xfrm>
          <a:prstGeom prst="rect">
            <a:avLst/>
          </a:prstGeom>
          <a:noFill/>
          <a:ln/>
        </p:spPr>
        <p:txBody>
          <a:bodyPr wrap="square" lIns="0" tIns="0" rIns="0" bIns="0" rtlCol="0" anchor="ctr"/>
          <a:lstStyle/>
          <a:p>
            <a:pPr algn="ctr" indent="0" marL="0">
              <a:buNone/>
            </a:pPr>
            <a:r>
              <a:rPr lang="en-US" sz="3600" b="1" dirty="0">
                <a:solidFill>
                  <a:srgbClr val="22C55E"/>
                </a:solidFill>
                <a:latin typeface="Calibri" pitchFamily="34" charset="0"/>
                <a:ea typeface="Calibri" pitchFamily="34" charset="-122"/>
                <a:cs typeface="Calibri" pitchFamily="34" charset="-120"/>
              </a:rPr>
              <a:t>47</a:t>
            </a:r>
            <a:endParaRPr lang="en-US" sz="3600" dirty="0"/>
          </a:p>
        </p:txBody>
      </p:sp>
      <p:sp>
        <p:nvSpPr>
          <p:cNvPr id="7" name="Text 5"/>
          <p:cNvSpPr/>
          <p:nvPr/>
        </p:nvSpPr>
        <p:spPr>
          <a:xfrm>
            <a:off x="731520" y="1664208"/>
            <a:ext cx="2286000" cy="274320"/>
          </a:xfrm>
          <a:prstGeom prst="rect">
            <a:avLst/>
          </a:prstGeom>
          <a:noFill/>
          <a:ln/>
        </p:spPr>
        <p:txBody>
          <a:bodyPr wrap="square" lIns="0" tIns="0" rIns="0" bIns="0" rtlCol="0" anchor="ctr"/>
          <a:lstStyle/>
          <a:p>
            <a:pPr algn="ctr" indent="0" marL="0">
              <a:buNone/>
            </a:pPr>
            <a:r>
              <a:rPr lang="en-US" sz="1100" dirty="0">
                <a:solidFill>
                  <a:srgbClr val="7A8A96"/>
                </a:solidFill>
                <a:latin typeface="Calibri" pitchFamily="34" charset="0"/>
                <a:ea typeface="Calibri" pitchFamily="34" charset="-122"/>
                <a:cs typeface="Calibri" pitchFamily="34" charset="-120"/>
              </a:rPr>
              <a:t>Issues Closed</a:t>
            </a:r>
            <a:endParaRPr lang="en-US" sz="1100" dirty="0"/>
          </a:p>
        </p:txBody>
      </p:sp>
      <p:sp>
        <p:nvSpPr>
          <p:cNvPr id="8" name="Shape 6"/>
          <p:cNvSpPr/>
          <p:nvPr/>
        </p:nvSpPr>
        <p:spPr>
          <a:xfrm>
            <a:off x="3383280" y="1051560"/>
            <a:ext cx="2286000" cy="100584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9" name="Shape 7"/>
          <p:cNvSpPr/>
          <p:nvPr/>
        </p:nvSpPr>
        <p:spPr>
          <a:xfrm>
            <a:off x="3383280" y="1051560"/>
            <a:ext cx="2286000" cy="36576"/>
          </a:xfrm>
          <a:prstGeom prst="rect">
            <a:avLst/>
          </a:prstGeom>
          <a:solidFill>
            <a:srgbClr val="F59E0B"/>
          </a:solidFill>
          <a:ln/>
        </p:spPr>
      </p:sp>
      <p:sp>
        <p:nvSpPr>
          <p:cNvPr id="10" name="Text 8"/>
          <p:cNvSpPr/>
          <p:nvPr/>
        </p:nvSpPr>
        <p:spPr>
          <a:xfrm>
            <a:off x="3383280" y="1143000"/>
            <a:ext cx="2286000" cy="502920"/>
          </a:xfrm>
          <a:prstGeom prst="rect">
            <a:avLst/>
          </a:prstGeom>
          <a:noFill/>
          <a:ln/>
        </p:spPr>
        <p:txBody>
          <a:bodyPr wrap="square" lIns="0" tIns="0" rIns="0" bIns="0" rtlCol="0" anchor="ctr"/>
          <a:lstStyle/>
          <a:p>
            <a:pPr algn="ctr" indent="0" marL="0">
              <a:buNone/>
            </a:pPr>
            <a:r>
              <a:rPr lang="en-US" sz="3600" b="1" dirty="0">
                <a:solidFill>
                  <a:srgbClr val="F59E0B"/>
                </a:solidFill>
                <a:latin typeface="Calibri" pitchFamily="34" charset="0"/>
                <a:ea typeface="Calibri" pitchFamily="34" charset="-122"/>
                <a:cs typeface="Calibri" pitchFamily="34" charset="-120"/>
              </a:rPr>
              <a:t>10</a:t>
            </a:r>
            <a:endParaRPr lang="en-US" sz="3600" dirty="0"/>
          </a:p>
        </p:txBody>
      </p:sp>
      <p:sp>
        <p:nvSpPr>
          <p:cNvPr id="11" name="Text 9"/>
          <p:cNvSpPr/>
          <p:nvPr/>
        </p:nvSpPr>
        <p:spPr>
          <a:xfrm>
            <a:off x="3383280" y="1664208"/>
            <a:ext cx="2286000" cy="274320"/>
          </a:xfrm>
          <a:prstGeom prst="rect">
            <a:avLst/>
          </a:prstGeom>
          <a:noFill/>
          <a:ln/>
        </p:spPr>
        <p:txBody>
          <a:bodyPr wrap="square" lIns="0" tIns="0" rIns="0" bIns="0" rtlCol="0" anchor="ctr"/>
          <a:lstStyle/>
          <a:p>
            <a:pPr algn="ctr" indent="0" marL="0">
              <a:buNone/>
            </a:pPr>
            <a:r>
              <a:rPr lang="en-US" sz="1100" dirty="0">
                <a:solidFill>
                  <a:srgbClr val="7A8A96"/>
                </a:solidFill>
                <a:latin typeface="Calibri" pitchFamily="34" charset="0"/>
                <a:ea typeface="Calibri" pitchFamily="34" charset="-122"/>
                <a:cs typeface="Calibri" pitchFamily="34" charset="-120"/>
              </a:rPr>
              <a:t>Still Open</a:t>
            </a:r>
            <a:endParaRPr lang="en-US" sz="1100" dirty="0"/>
          </a:p>
        </p:txBody>
      </p:sp>
      <p:sp>
        <p:nvSpPr>
          <p:cNvPr id="12" name="Shape 10"/>
          <p:cNvSpPr/>
          <p:nvPr/>
        </p:nvSpPr>
        <p:spPr>
          <a:xfrm>
            <a:off x="6035040" y="1051560"/>
            <a:ext cx="2286000" cy="100584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3" name="Shape 11"/>
          <p:cNvSpPr/>
          <p:nvPr/>
        </p:nvSpPr>
        <p:spPr>
          <a:xfrm>
            <a:off x="6035040" y="1051560"/>
            <a:ext cx="2286000" cy="36576"/>
          </a:xfrm>
          <a:prstGeom prst="rect">
            <a:avLst/>
          </a:prstGeom>
          <a:solidFill>
            <a:srgbClr val="EC1B34"/>
          </a:solidFill>
          <a:ln/>
        </p:spPr>
      </p:sp>
      <p:sp>
        <p:nvSpPr>
          <p:cNvPr id="14" name="Text 12"/>
          <p:cNvSpPr/>
          <p:nvPr/>
        </p:nvSpPr>
        <p:spPr>
          <a:xfrm>
            <a:off x="6035040" y="1143000"/>
            <a:ext cx="2286000" cy="502920"/>
          </a:xfrm>
          <a:prstGeom prst="rect">
            <a:avLst/>
          </a:prstGeom>
          <a:noFill/>
          <a:ln/>
        </p:spPr>
        <p:txBody>
          <a:bodyPr wrap="square" lIns="0" tIns="0" rIns="0" bIns="0" rtlCol="0" anchor="ctr"/>
          <a:lstStyle/>
          <a:p>
            <a:pPr algn="ctr" indent="0" marL="0">
              <a:buNone/>
            </a:pPr>
            <a:r>
              <a:rPr lang="en-US" sz="3600" b="1" dirty="0">
                <a:solidFill>
                  <a:srgbClr val="EC1B34"/>
                </a:solidFill>
                <a:latin typeface="Calibri" pitchFamily="34" charset="0"/>
                <a:ea typeface="Calibri" pitchFamily="34" charset="-122"/>
                <a:cs typeface="Calibri" pitchFamily="34" charset="-120"/>
              </a:rPr>
              <a:t>6</a:t>
            </a:r>
            <a:endParaRPr lang="en-US" sz="3600" dirty="0"/>
          </a:p>
        </p:txBody>
      </p:sp>
      <p:sp>
        <p:nvSpPr>
          <p:cNvPr id="15" name="Text 13"/>
          <p:cNvSpPr/>
          <p:nvPr/>
        </p:nvSpPr>
        <p:spPr>
          <a:xfrm>
            <a:off x="6035040" y="1664208"/>
            <a:ext cx="2286000" cy="274320"/>
          </a:xfrm>
          <a:prstGeom prst="rect">
            <a:avLst/>
          </a:prstGeom>
          <a:noFill/>
          <a:ln/>
        </p:spPr>
        <p:txBody>
          <a:bodyPr wrap="square" lIns="0" tIns="0" rIns="0" bIns="0" rtlCol="0" anchor="ctr"/>
          <a:lstStyle/>
          <a:p>
            <a:pPr algn="ctr" indent="0" marL="0">
              <a:buNone/>
            </a:pPr>
            <a:r>
              <a:rPr lang="en-US" sz="1100" dirty="0">
                <a:solidFill>
                  <a:srgbClr val="7A8A96"/>
                </a:solidFill>
                <a:latin typeface="Calibri" pitchFamily="34" charset="0"/>
                <a:ea typeface="Calibri" pitchFamily="34" charset="-122"/>
                <a:cs typeface="Calibri" pitchFamily="34" charset="-120"/>
              </a:rPr>
              <a:t>Months Tenure</a:t>
            </a:r>
            <a:endParaRPr lang="en-US" sz="1100" dirty="0"/>
          </a:p>
        </p:txBody>
      </p:sp>
      <p:sp>
        <p:nvSpPr>
          <p:cNvPr id="16" name="Text 14"/>
          <p:cNvSpPr/>
          <p:nvPr/>
        </p:nvSpPr>
        <p:spPr>
          <a:xfrm>
            <a:off x="731520" y="2286000"/>
            <a:ext cx="3657600" cy="274320"/>
          </a:xfrm>
          <a:prstGeom prst="rect">
            <a:avLst/>
          </a:prstGeom>
          <a:noFill/>
          <a:ln/>
        </p:spPr>
        <p:txBody>
          <a:bodyPr wrap="square" lIns="0" tIns="0" rIns="0" bIns="0" rtlCol="0" anchor="ctr"/>
          <a:lstStyle/>
          <a:p>
            <a:pPr indent="0" marL="0">
              <a:buNone/>
            </a:pPr>
            <a:r>
              <a:rPr lang="en-US" sz="1500" b="1" dirty="0">
                <a:solidFill>
                  <a:srgbClr val="EC1B34"/>
                </a:solidFill>
                <a:latin typeface="Calibri" pitchFamily="34" charset="0"/>
                <a:ea typeface="Calibri" pitchFamily="34" charset="-122"/>
                <a:cs typeface="Calibri" pitchFamily="34" charset="-120"/>
              </a:rPr>
              <a:t>Key Deliverables</a:t>
            </a:r>
            <a:endParaRPr lang="en-US" sz="1500" dirty="0"/>
          </a:p>
        </p:txBody>
      </p:sp>
      <p:sp>
        <p:nvSpPr>
          <p:cNvPr id="17" name="Text 15"/>
          <p:cNvSpPr/>
          <p:nvPr/>
        </p:nvSpPr>
        <p:spPr>
          <a:xfrm>
            <a:off x="731520" y="2606040"/>
            <a:ext cx="3657600" cy="1280160"/>
          </a:xfrm>
          <a:prstGeom prst="rect">
            <a:avLst/>
          </a:prstGeom>
          <a:noFill/>
          <a:ln/>
        </p:spPr>
        <p:txBody>
          <a:bodyPr wrap="square" rtlCol="0" anchor="ctr"/>
          <a:lstStyle/>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Orders table, routing, CRUD, scheduling</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Order pricing, invoicing, charts</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Filtering, exports, internal notes</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YoY comparison charts</a:t>
            </a:r>
            <a:endParaRPr lang="en-US" sz="1200" dirty="0"/>
          </a:p>
        </p:txBody>
      </p:sp>
      <p:sp>
        <p:nvSpPr>
          <p:cNvPr id="18" name="Text 16"/>
          <p:cNvSpPr/>
          <p:nvPr/>
        </p:nvSpPr>
        <p:spPr>
          <a:xfrm>
            <a:off x="4754880" y="2606040"/>
            <a:ext cx="3657600" cy="1280160"/>
          </a:xfrm>
          <a:prstGeom prst="rect">
            <a:avLst/>
          </a:prstGeom>
          <a:noFill/>
          <a:ln/>
        </p:spPr>
        <p:txBody>
          <a:bodyPr wrap="square" rtlCol="0" anchor="ctr"/>
          <a:lstStyle/>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Organisation side panel &amp; orders list</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Mobile responsive forms</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Collections UI + scheduling</a:t>
            </a:r>
            <a:endParaRPr lang="en-US" sz="1200" dirty="0"/>
          </a:p>
          <a:p>
            <a:pPr marL="342900" indent="-342900">
              <a:spcAft>
                <a:spcPts val="400"/>
              </a:spcAft>
              <a:buSzPct val="100000"/>
              <a:buChar char="•"/>
            </a:pPr>
            <a:r>
              <a:rPr lang="en-US" sz="1200" dirty="0">
                <a:solidFill>
                  <a:srgbClr val="E4E9EC"/>
                </a:solidFill>
                <a:latin typeface="Calibri" pitchFamily="34" charset="0"/>
                <a:ea typeface="Calibri" pitchFamily="34" charset="-122"/>
                <a:cs typeface="Calibri" pitchFamily="34" charset="-120"/>
              </a:rPr>
              <a:t>Feature flag system for orders</a:t>
            </a:r>
            <a:endParaRPr lang="en-US" sz="1200" dirty="0"/>
          </a:p>
        </p:txBody>
      </p:sp>
      <p:sp>
        <p:nvSpPr>
          <p:cNvPr id="19" name="Shape 17"/>
          <p:cNvSpPr/>
          <p:nvPr/>
        </p:nvSpPr>
        <p:spPr>
          <a:xfrm>
            <a:off x="731520" y="4023360"/>
            <a:ext cx="7680960" cy="502920"/>
          </a:xfrm>
          <a:prstGeom prst="rect">
            <a:avLst/>
          </a:prstGeom>
          <a:solidFill>
            <a:srgbClr val="1A2530"/>
          </a:solidFill>
          <a:ln/>
        </p:spPr>
      </p:sp>
      <p:sp>
        <p:nvSpPr>
          <p:cNvPr id="20" name="Shape 18"/>
          <p:cNvSpPr/>
          <p:nvPr/>
        </p:nvSpPr>
        <p:spPr>
          <a:xfrm>
            <a:off x="731520" y="4023360"/>
            <a:ext cx="54864" cy="502920"/>
          </a:xfrm>
          <a:prstGeom prst="rect">
            <a:avLst/>
          </a:prstGeom>
          <a:solidFill>
            <a:srgbClr val="F59E0B"/>
          </a:solidFill>
          <a:ln/>
        </p:spPr>
      </p:sp>
      <p:sp>
        <p:nvSpPr>
          <p:cNvPr id="21" name="Text 19"/>
          <p:cNvSpPr/>
          <p:nvPr/>
        </p:nvSpPr>
        <p:spPr>
          <a:xfrm>
            <a:off x="1005840" y="4023360"/>
            <a:ext cx="7223760" cy="502920"/>
          </a:xfrm>
          <a:prstGeom prst="rect">
            <a:avLst/>
          </a:prstGeom>
          <a:noFill/>
          <a:ln/>
        </p:spPr>
        <p:txBody>
          <a:bodyPr wrap="square" rtlCol="0" anchor="ctr"/>
          <a:lstStyle/>
          <a:p>
            <a:pPr indent="0" marL="0">
              <a:buNone/>
            </a:pPr>
            <a:r>
              <a:rPr lang="en-US" sz="1200" b="1" dirty="0">
                <a:solidFill>
                  <a:srgbClr val="F59E0B"/>
                </a:solidFill>
                <a:latin typeface="Calibri" pitchFamily="34" charset="0"/>
                <a:ea typeface="Calibri" pitchFamily="34" charset="-122"/>
                <a:cs typeface="Calibri" pitchFamily="34" charset="-120"/>
              </a:rPr>
              <a:t>Handover: </a:t>
            </a:r>
            <a:pPr indent="0" marL="0">
              <a:buNone/>
            </a:pPr>
            <a:r>
              <a:rPr lang="en-US" sz="1200" dirty="0">
                <a:solidFill>
                  <a:srgbClr val="E4E9EC"/>
                </a:solidFill>
                <a:latin typeface="Calibri" pitchFamily="34" charset="0"/>
                <a:ea typeface="Calibri" pitchFamily="34" charset="-122"/>
                <a:cs typeface="Calibri" pitchFamily="34" charset="-120"/>
              </a:rPr>
              <a:t>10 tickets need reassignment — lease decoupling (#4526) needs special discussion with Doug</a:t>
            </a:r>
            <a:endParaRPr lang="en-US" sz="1200" dirty="0"/>
          </a:p>
        </p:txBody>
      </p:sp>
      <p:pic>
        <p:nvPicPr>
          <p:cNvPr id="23"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4" name="Text 20"/>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5" name="Text 21"/>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3 / 10</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Sprint 3 Velocity — NS Breach Impact</a:t>
            </a:r>
            <a:endParaRPr lang="en-US" sz="2800" dirty="0"/>
          </a:p>
        </p:txBody>
      </p:sp>
      <p:sp>
        <p:nvSpPr>
          <p:cNvPr id="4" name="Shape 2"/>
          <p:cNvSpPr/>
          <p:nvPr/>
        </p:nvSpPr>
        <p:spPr>
          <a:xfrm>
            <a:off x="731520" y="1005840"/>
            <a:ext cx="7680960" cy="502920"/>
          </a:xfrm>
          <a:prstGeom prst="rect">
            <a:avLst/>
          </a:prstGeom>
          <a:solidFill>
            <a:srgbClr val="2D1215"/>
          </a:solidFill>
          <a:ln/>
        </p:spPr>
      </p:sp>
      <p:sp>
        <p:nvSpPr>
          <p:cNvPr id="5" name="Shape 3"/>
          <p:cNvSpPr/>
          <p:nvPr/>
        </p:nvSpPr>
        <p:spPr>
          <a:xfrm>
            <a:off x="731520" y="1005840"/>
            <a:ext cx="54864" cy="502920"/>
          </a:xfrm>
          <a:prstGeom prst="rect">
            <a:avLst/>
          </a:prstGeom>
          <a:solidFill>
            <a:srgbClr val="EC1B34"/>
          </a:solidFill>
          <a:ln/>
        </p:spPr>
      </p:sp>
      <p:sp>
        <p:nvSpPr>
          <p:cNvPr id="6" name="Text 4"/>
          <p:cNvSpPr/>
          <p:nvPr/>
        </p:nvSpPr>
        <p:spPr>
          <a:xfrm>
            <a:off x="1005840" y="1005840"/>
            <a:ext cx="7223760" cy="502920"/>
          </a:xfrm>
          <a:prstGeom prst="rect">
            <a:avLst/>
          </a:prstGeom>
          <a:noFill/>
          <a:ln/>
        </p:spPr>
        <p:txBody>
          <a:bodyPr wrap="square" rtlCol="0" anchor="ctr"/>
          <a:lstStyle/>
          <a:p>
            <a:pPr indent="0" marL="0">
              <a:buNone/>
            </a:pPr>
            <a:r>
              <a:rPr lang="en-US" sz="1200" b="1" dirty="0">
                <a:solidFill>
                  <a:srgbClr val="FF3D54"/>
                </a:solidFill>
                <a:latin typeface="Calibri" pitchFamily="34" charset="0"/>
                <a:ea typeface="Calibri" pitchFamily="34" charset="-122"/>
                <a:cs typeface="Calibri" pitchFamily="34" charset="-120"/>
              </a:rPr>
              <a:t>Week 1 lost to NS breach recovery </a:t>
            </a:r>
            <a:pPr indent="0" marL="0">
              <a:buNone/>
            </a:pPr>
            <a:r>
              <a:rPr lang="en-US" sz="1200" dirty="0">
                <a:solidFill>
                  <a:srgbClr val="E4E9EC"/>
                </a:solidFill>
                <a:latin typeface="Calibri" pitchFamily="34" charset="0"/>
                <a:ea typeface="Calibri" pitchFamily="34" charset="-122"/>
                <a:cs typeface="Calibri" pitchFamily="34" charset="-120"/>
              </a:rPr>
              <a:t>— 12 of 14 closed items were reactive incident work (all Rob)</a:t>
            </a:r>
            <a:endParaRPr lang="en-US" sz="1200" dirty="0"/>
          </a:p>
        </p:txBody>
      </p:sp>
      <p:sp>
        <p:nvSpPr>
          <p:cNvPr id="7" name="Shape 5"/>
          <p:cNvSpPr/>
          <p:nvPr/>
        </p:nvSpPr>
        <p:spPr>
          <a:xfrm>
            <a:off x="73152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8" name="Shape 6"/>
          <p:cNvSpPr/>
          <p:nvPr/>
        </p:nvSpPr>
        <p:spPr>
          <a:xfrm>
            <a:off x="731520" y="1737360"/>
            <a:ext cx="1737360" cy="36576"/>
          </a:xfrm>
          <a:prstGeom prst="rect">
            <a:avLst/>
          </a:prstGeom>
          <a:solidFill>
            <a:srgbClr val="C8CDD0"/>
          </a:solidFill>
          <a:ln/>
        </p:spPr>
      </p:sp>
      <p:sp>
        <p:nvSpPr>
          <p:cNvPr id="9" name="Text 7"/>
          <p:cNvSpPr/>
          <p:nvPr/>
        </p:nvSpPr>
        <p:spPr>
          <a:xfrm>
            <a:off x="731520" y="1810512"/>
            <a:ext cx="1737360" cy="502920"/>
          </a:xfrm>
          <a:prstGeom prst="rect">
            <a:avLst/>
          </a:prstGeom>
          <a:noFill/>
          <a:ln/>
        </p:spPr>
        <p:txBody>
          <a:bodyPr wrap="square" lIns="0" tIns="0" rIns="0" bIns="0" rtlCol="0" anchor="ctr"/>
          <a:lstStyle/>
          <a:p>
            <a:pPr algn="ctr" indent="0" marL="0">
              <a:buNone/>
            </a:pPr>
            <a:r>
              <a:rPr lang="en-US" sz="3400" b="1" dirty="0">
                <a:solidFill>
                  <a:srgbClr val="C8CDD0"/>
                </a:solidFill>
                <a:latin typeface="Calibri" pitchFamily="34" charset="0"/>
                <a:ea typeface="Calibri" pitchFamily="34" charset="-122"/>
                <a:cs typeface="Calibri" pitchFamily="34" charset="-120"/>
              </a:rPr>
              <a:t>14</a:t>
            </a:r>
            <a:endParaRPr lang="en-US" sz="3400" dirty="0"/>
          </a:p>
        </p:txBody>
      </p:sp>
      <p:sp>
        <p:nvSpPr>
          <p:cNvPr id="10" name="Text 8"/>
          <p:cNvSpPr/>
          <p:nvPr/>
        </p:nvSpPr>
        <p:spPr>
          <a:xfrm>
            <a:off x="73152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Items Closed</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(since Apr 3)</a:t>
            </a:r>
            <a:endParaRPr lang="en-US" sz="1000" dirty="0"/>
          </a:p>
        </p:txBody>
      </p:sp>
      <p:sp>
        <p:nvSpPr>
          <p:cNvPr id="11" name="Shape 9"/>
          <p:cNvSpPr/>
          <p:nvPr/>
        </p:nvSpPr>
        <p:spPr>
          <a:xfrm>
            <a:off x="274320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2" name="Shape 10"/>
          <p:cNvSpPr/>
          <p:nvPr/>
        </p:nvSpPr>
        <p:spPr>
          <a:xfrm>
            <a:off x="2743200" y="1737360"/>
            <a:ext cx="1737360" cy="36576"/>
          </a:xfrm>
          <a:prstGeom prst="rect">
            <a:avLst/>
          </a:prstGeom>
          <a:solidFill>
            <a:srgbClr val="EC1B34"/>
          </a:solidFill>
          <a:ln/>
        </p:spPr>
      </p:sp>
      <p:sp>
        <p:nvSpPr>
          <p:cNvPr id="13" name="Text 11"/>
          <p:cNvSpPr/>
          <p:nvPr/>
        </p:nvSpPr>
        <p:spPr>
          <a:xfrm>
            <a:off x="2743200" y="1810512"/>
            <a:ext cx="1737360" cy="502920"/>
          </a:xfrm>
          <a:prstGeom prst="rect">
            <a:avLst/>
          </a:prstGeom>
          <a:noFill/>
          <a:ln/>
        </p:spPr>
        <p:txBody>
          <a:bodyPr wrap="square" lIns="0" tIns="0" rIns="0" bIns="0" rtlCol="0" anchor="ctr"/>
          <a:lstStyle/>
          <a:p>
            <a:pPr algn="ctr" indent="0" marL="0">
              <a:buNone/>
            </a:pPr>
            <a:r>
              <a:rPr lang="en-US" sz="3400" b="1" dirty="0">
                <a:solidFill>
                  <a:srgbClr val="EC1B34"/>
                </a:solidFill>
                <a:latin typeface="Calibri" pitchFamily="34" charset="0"/>
                <a:ea typeface="Calibri" pitchFamily="34" charset="-122"/>
                <a:cs typeface="Calibri" pitchFamily="34" charset="-120"/>
              </a:rPr>
              <a:t>12</a:t>
            </a:r>
            <a:endParaRPr lang="en-US" sz="3400" dirty="0"/>
          </a:p>
        </p:txBody>
      </p:sp>
      <p:sp>
        <p:nvSpPr>
          <p:cNvPr id="14" name="Text 12"/>
          <p:cNvSpPr/>
          <p:nvPr/>
        </p:nvSpPr>
        <p:spPr>
          <a:xfrm>
            <a:off x="274320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Rob's Reactive</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NS Fixes</a:t>
            </a:r>
            <a:endParaRPr lang="en-US" sz="1000" dirty="0"/>
          </a:p>
        </p:txBody>
      </p:sp>
      <p:sp>
        <p:nvSpPr>
          <p:cNvPr id="15" name="Shape 13"/>
          <p:cNvSpPr/>
          <p:nvPr/>
        </p:nvSpPr>
        <p:spPr>
          <a:xfrm>
            <a:off x="475488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6" name="Shape 14"/>
          <p:cNvSpPr/>
          <p:nvPr/>
        </p:nvSpPr>
        <p:spPr>
          <a:xfrm>
            <a:off x="4754880" y="1737360"/>
            <a:ext cx="1737360" cy="36576"/>
          </a:xfrm>
          <a:prstGeom prst="rect">
            <a:avLst/>
          </a:prstGeom>
          <a:solidFill>
            <a:srgbClr val="F59E0B"/>
          </a:solidFill>
          <a:ln/>
        </p:spPr>
      </p:sp>
      <p:sp>
        <p:nvSpPr>
          <p:cNvPr id="17" name="Text 15"/>
          <p:cNvSpPr/>
          <p:nvPr/>
        </p:nvSpPr>
        <p:spPr>
          <a:xfrm>
            <a:off x="4754880" y="1810512"/>
            <a:ext cx="1737360" cy="502920"/>
          </a:xfrm>
          <a:prstGeom prst="rect">
            <a:avLst/>
          </a:prstGeom>
          <a:noFill/>
          <a:ln/>
        </p:spPr>
        <p:txBody>
          <a:bodyPr wrap="square" lIns="0" tIns="0" rIns="0" bIns="0" rtlCol="0" anchor="ctr"/>
          <a:lstStyle/>
          <a:p>
            <a:pPr algn="ctr" indent="0" marL="0">
              <a:buNone/>
            </a:pPr>
            <a:r>
              <a:rPr lang="en-US" sz="3400" b="1" dirty="0">
                <a:solidFill>
                  <a:srgbClr val="F59E0B"/>
                </a:solidFill>
                <a:latin typeface="Calibri" pitchFamily="34" charset="0"/>
                <a:ea typeface="Calibri" pitchFamily="34" charset="-122"/>
                <a:cs typeface="Calibri" pitchFamily="34" charset="-120"/>
              </a:rPr>
              <a:t>0</a:t>
            </a:r>
            <a:endParaRPr lang="en-US" sz="3400" dirty="0"/>
          </a:p>
        </p:txBody>
      </p:sp>
      <p:sp>
        <p:nvSpPr>
          <p:cNvPr id="18" name="Text 16"/>
          <p:cNvSpPr/>
          <p:nvPr/>
        </p:nvSpPr>
        <p:spPr>
          <a:xfrm>
            <a:off x="475488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Planned Goals</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Completed</a:t>
            </a:r>
            <a:endParaRPr lang="en-US" sz="1000" dirty="0"/>
          </a:p>
        </p:txBody>
      </p:sp>
      <p:sp>
        <p:nvSpPr>
          <p:cNvPr id="19" name="Shape 17"/>
          <p:cNvSpPr/>
          <p:nvPr/>
        </p:nvSpPr>
        <p:spPr>
          <a:xfrm>
            <a:off x="6766560" y="1737360"/>
            <a:ext cx="17373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20" name="Shape 18"/>
          <p:cNvSpPr/>
          <p:nvPr/>
        </p:nvSpPr>
        <p:spPr>
          <a:xfrm>
            <a:off x="6766560" y="1737360"/>
            <a:ext cx="1737360" cy="36576"/>
          </a:xfrm>
          <a:prstGeom prst="rect">
            <a:avLst/>
          </a:prstGeom>
          <a:solidFill>
            <a:srgbClr val="22C55E"/>
          </a:solidFill>
          <a:ln/>
        </p:spPr>
      </p:sp>
      <p:sp>
        <p:nvSpPr>
          <p:cNvPr id="21" name="Text 19"/>
          <p:cNvSpPr/>
          <p:nvPr/>
        </p:nvSpPr>
        <p:spPr>
          <a:xfrm>
            <a:off x="6766560" y="1810512"/>
            <a:ext cx="1737360" cy="502920"/>
          </a:xfrm>
          <a:prstGeom prst="rect">
            <a:avLst/>
          </a:prstGeom>
          <a:noFill/>
          <a:ln/>
        </p:spPr>
        <p:txBody>
          <a:bodyPr wrap="square" lIns="0" tIns="0" rIns="0" bIns="0" rtlCol="0" anchor="ctr"/>
          <a:lstStyle/>
          <a:p>
            <a:pPr algn="ctr" indent="0" marL="0">
              <a:buNone/>
            </a:pPr>
            <a:r>
              <a:rPr lang="en-US" sz="3400" b="1" dirty="0">
                <a:solidFill>
                  <a:srgbClr val="22C55E"/>
                </a:solidFill>
                <a:latin typeface="Calibri" pitchFamily="34" charset="0"/>
                <a:ea typeface="Calibri" pitchFamily="34" charset="-122"/>
                <a:cs typeface="Calibri" pitchFamily="34" charset="-120"/>
              </a:rPr>
              <a:t>7</a:t>
            </a:r>
            <a:endParaRPr lang="en-US" sz="3400" dirty="0"/>
          </a:p>
        </p:txBody>
      </p:sp>
      <p:sp>
        <p:nvSpPr>
          <p:cNvPr id="22" name="Text 20"/>
          <p:cNvSpPr/>
          <p:nvPr/>
        </p:nvSpPr>
        <p:spPr>
          <a:xfrm>
            <a:off x="6766560" y="2331720"/>
            <a:ext cx="1737360" cy="365760"/>
          </a:xfrm>
          <a:prstGeom prst="rect">
            <a:avLst/>
          </a:prstGeom>
          <a:noFill/>
          <a:ln/>
        </p:spPr>
        <p:txBody>
          <a:bodyPr wrap="square" lIns="0" tIns="0" rIns="0" bIns="0" rtlCol="0" anchor="ctr"/>
          <a:lstStyle/>
          <a:p>
            <a:pPr algn="ctr" indent="0" marL="0">
              <a:buNone/>
            </a:pPr>
            <a:r>
              <a:rPr lang="en-US" sz="1000" dirty="0">
                <a:solidFill>
                  <a:srgbClr val="7A8A96"/>
                </a:solidFill>
                <a:latin typeface="Calibri" pitchFamily="34" charset="0"/>
                <a:ea typeface="Calibri" pitchFamily="34" charset="-122"/>
                <a:cs typeface="Calibri" pitchFamily="34" charset="-120"/>
              </a:rPr>
              <a:t>Working Days</a:t>
            </a:r>
            <a:endParaRPr lang="en-US" sz="1000" dirty="0"/>
          </a:p>
          <a:p>
            <a:pPr algn="ctr" indent="0" marL="0">
              <a:buNone/>
            </a:pPr>
            <a:r>
              <a:rPr lang="en-US" sz="1000" dirty="0">
                <a:solidFill>
                  <a:srgbClr val="7A8A96"/>
                </a:solidFill>
                <a:latin typeface="Calibri" pitchFamily="34" charset="0"/>
                <a:ea typeface="Calibri" pitchFamily="34" charset="-122"/>
                <a:cs typeface="Calibri" pitchFamily="34" charset="-120"/>
              </a:rPr>
              <a:t>Remaining</a:t>
            </a:r>
            <a:endParaRPr lang="en-US" sz="1000" dirty="0"/>
          </a:p>
        </p:txBody>
      </p:sp>
      <p:sp>
        <p:nvSpPr>
          <p:cNvPr id="23" name="Text 21"/>
          <p:cNvSpPr/>
          <p:nvPr/>
        </p:nvSpPr>
        <p:spPr>
          <a:xfrm>
            <a:off x="731520" y="3017520"/>
            <a:ext cx="3657600" cy="274320"/>
          </a:xfrm>
          <a:prstGeom prst="rect">
            <a:avLst/>
          </a:prstGeom>
          <a:noFill/>
          <a:ln/>
        </p:spPr>
        <p:txBody>
          <a:bodyPr wrap="square" lIns="0" tIns="0" rIns="0" bIns="0" rtlCol="0" anchor="ctr"/>
          <a:lstStyle/>
          <a:p>
            <a:pPr indent="0" marL="0">
              <a:buNone/>
            </a:pPr>
            <a:r>
              <a:rPr lang="en-US" sz="1500" b="1" dirty="0">
                <a:solidFill>
                  <a:srgbClr val="EC1B34"/>
                </a:solidFill>
                <a:latin typeface="Calibri" pitchFamily="34" charset="0"/>
                <a:ea typeface="Calibri" pitchFamily="34" charset="-122"/>
                <a:cs typeface="Calibri" pitchFamily="34" charset="-120"/>
              </a:rPr>
              <a:t>Sprint Comparison</a:t>
            </a:r>
            <a:endParaRPr lang="en-US" sz="1500" dirty="0"/>
          </a:p>
        </p:txBody>
      </p:sp>
      <p:sp>
        <p:nvSpPr>
          <p:cNvPr id="24" name="Text 22"/>
          <p:cNvSpPr/>
          <p:nvPr/>
        </p:nvSpPr>
        <p:spPr>
          <a:xfrm>
            <a:off x="731520" y="3337560"/>
            <a:ext cx="7680960" cy="1097280"/>
          </a:xfrm>
          <a:prstGeom prst="rect">
            <a:avLst/>
          </a:prstGeom>
          <a:noFill/>
          <a:ln/>
        </p:spPr>
        <p:txBody>
          <a:bodyPr wrap="square" rtlCol="0" anchor="ctr"/>
          <a:lstStyle/>
          <a:p>
            <a:pPr indent="0" marL="0">
              <a:spcAft>
                <a:spcPts val="600"/>
              </a:spcAft>
              <a:buNone/>
            </a:pPr>
            <a:r>
              <a:rPr lang="en-US" sz="1300" b="1" dirty="0">
                <a:solidFill>
                  <a:srgbClr val="FFFFFF"/>
                </a:solidFill>
                <a:latin typeface="Calibri" pitchFamily="34" charset="0"/>
                <a:ea typeface="Calibri" pitchFamily="34" charset="-122"/>
                <a:cs typeface="Calibri" pitchFamily="34" charset="-120"/>
              </a:rPr>
              <a:t>Sprint 2: </a:t>
            </a:r>
            <a:pPr indent="0" marL="0">
              <a:spcAft>
                <a:spcPts val="600"/>
              </a:spcAft>
              <a:buNone/>
            </a:pPr>
            <a:r>
              <a:rPr lang="en-US" sz="1300" dirty="0">
                <a:solidFill>
                  <a:srgbClr val="E4E9EC"/>
                </a:solidFill>
                <a:latin typeface="Calibri" pitchFamily="34" charset="0"/>
                <a:ea typeface="Calibri" pitchFamily="34" charset="-122"/>
                <a:cs typeface="Calibri" pitchFamily="34" charset="-120"/>
              </a:rPr>
              <a:t>47 items closed in 2 weeks (13 in final week alone)</a:t>
            </a:r>
            <a:endParaRPr lang="en-US" sz="1300" dirty="0"/>
          </a:p>
          <a:p>
            <a:pPr indent="0" marL="0">
              <a:spcAft>
                <a:spcPts val="600"/>
              </a:spcAft>
              <a:buNone/>
            </a:pPr>
            <a:r>
              <a:rPr lang="en-US" sz="1300" b="1" dirty="0">
                <a:solidFill>
                  <a:srgbClr val="FFFFFF"/>
                </a:solidFill>
                <a:latin typeface="Calibri" pitchFamily="34" charset="0"/>
                <a:ea typeface="Calibri" pitchFamily="34" charset="-122"/>
                <a:cs typeface="Calibri" pitchFamily="34" charset="-120"/>
              </a:rPr>
              <a:t>Sprint 3: </a:t>
            </a:r>
            <a:pPr indent="0" marL="0">
              <a:spcAft>
                <a:spcPts val="600"/>
              </a:spcAft>
              <a:buNone/>
            </a:pPr>
            <a:r>
              <a:rPr lang="en-US" sz="1300" dirty="0">
                <a:solidFill>
                  <a:srgbClr val="E4E9EC"/>
                </a:solidFill>
                <a:latin typeface="Calibri" pitchFamily="34" charset="0"/>
                <a:ea typeface="Calibri" pitchFamily="34" charset="-122"/>
                <a:cs typeface="Calibri" pitchFamily="34" charset="-120"/>
              </a:rPr>
              <a:t>Effectively a 1-week sprint for planned work</a:t>
            </a:r>
            <a:endParaRPr lang="en-US" sz="1300" dirty="0"/>
          </a:p>
          <a:p>
            <a:pPr indent="0" marL="0">
              <a:spcAft>
                <a:spcPts val="600"/>
              </a:spcAft>
              <a:buNone/>
            </a:pPr>
            <a:r>
              <a:rPr lang="en-US" sz="1300" b="1" dirty="0">
                <a:solidFill>
                  <a:srgbClr val="F59E0B"/>
                </a:solidFill>
                <a:latin typeface="Calibri" pitchFamily="34" charset="0"/>
                <a:ea typeface="Calibri" pitchFamily="34" charset="-122"/>
                <a:cs typeface="Calibri" pitchFamily="34" charset="-120"/>
              </a:rPr>
              <a:t>Key risk: </a:t>
            </a:r>
            <a:pPr indent="0" marL="0">
              <a:spcAft>
                <a:spcPts val="600"/>
              </a:spcAft>
              <a:buNone/>
            </a:pPr>
            <a:r>
              <a:rPr lang="en-US" sz="1300" dirty="0">
                <a:solidFill>
                  <a:srgbClr val="E4E9EC"/>
                </a:solidFill>
                <a:latin typeface="Calibri" pitchFamily="34" charset="0"/>
                <a:ea typeface="Calibri" pitchFamily="34" charset="-122"/>
                <a:cs typeface="Calibri" pitchFamily="34" charset="-120"/>
              </a:rPr>
              <a:t>Day 8 scope freeze approaching with zero goal progress</a:t>
            </a:r>
            <a:endParaRPr lang="en-US" sz="1300" dirty="0"/>
          </a:p>
        </p:txBody>
      </p:sp>
      <p:pic>
        <p:nvPicPr>
          <p:cNvPr id="2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7" name="Text 2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8" name="Text 2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4 / 10</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Team Load &amp; Current Assignments</a:t>
            </a:r>
            <a:endParaRPr lang="en-US" sz="28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57200" y="1097280"/>
          <a:ext cx="8229600" cy="2560320"/>
        </p:xfrm>
        <a:graphic>
          <a:graphicData uri="http://schemas.openxmlformats.org/drawingml/2006/table">
            <a:tbl>
              <a:tblPr/>
              <a:tblGrid>
                <a:gridCol w="1005840"/>
                <a:gridCol w="548640"/>
                <a:gridCol w="548640"/>
                <a:gridCol w="4389120"/>
                <a:gridCol w="1097280"/>
              </a:tblGrid>
              <a:tr h="32004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Person</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Open</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Sprint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Focus This Sprint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EC1B34"/>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Rob</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53</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9</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FL-5, FL-6, NS audit, breach cleanup</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EC1B34"/>
                          </a:solidFill>
                          <a:latin typeface="Calibri" pitchFamily="34" charset="0"/>
                          <a:ea typeface="Calibri" pitchFamily="34" charset="-122"/>
                          <a:cs typeface="Calibri" pitchFamily="34" charset="-120"/>
                        </a:rPr>
                        <a:t>Overloaded</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Millicent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5</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Scheduled order updates, bug fixes, chores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b="1" dirty="0">
                          <a:solidFill>
                            <a:srgbClr val="22C55E"/>
                          </a:solidFill>
                          <a:latin typeface="Calibri" pitchFamily="34" charset="0"/>
                          <a:ea typeface="Calibri" pitchFamily="34" charset="-122"/>
                          <a:cs typeface="Calibri" pitchFamily="34" charset="-120"/>
                        </a:rPr>
                        <a:t>Capacity</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Bea</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33</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12</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FL frontend (blocked), Orders UX tickets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Ramping</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Doug</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7</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All need reassignment before departure</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c>
                  <a:txBody>
                    <a:bodyPr/>
                    <a:lstStyle/>
                    <a:p>
                      <a:pPr indent="0" marL="0">
                        <a:buNone/>
                      </a:pPr>
                      <a:r>
                        <a:rPr lang="en-US" sz="1100" b="1" dirty="0">
                          <a:solidFill>
                            <a:srgbClr val="7A8A96"/>
                          </a:solidFill>
                          <a:latin typeface="Calibri" pitchFamily="34" charset="0"/>
                          <a:ea typeface="Calibri" pitchFamily="34" charset="-122"/>
                          <a:cs typeface="Calibri" pitchFamily="34" charset="-120"/>
                        </a:rPr>
                        <a:t>Departing</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243340"/>
                    </a:solidFill>
                  </a:tcPr>
                </a:tc>
              </a:tr>
              <a:tr h="365760">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Unassigned</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dirty="0">
                          <a:solidFill>
                            <a:srgbClr val="E4E9EC"/>
                          </a:solidFill>
                          <a:latin typeface="Calibri" pitchFamily="34" charset="0"/>
                          <a:ea typeface="Calibri" pitchFamily="34" charset="-122"/>
                          <a:cs typeface="Calibri" pitchFamily="34" charset="-120"/>
                        </a:rPr>
                        <a:t>Includes FL-1 to FL-4 blockers + 28 design tickets</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c>
                  <a:txBody>
                    <a:bodyPr/>
                    <a:lstStyle/>
                    <a:p>
                      <a:pPr indent="0" marL="0">
                        <a:buNone/>
                      </a:pPr>
                      <a:r>
                        <a:rPr lang="en-US" sz="1100" b="1" dirty="0">
                          <a:solidFill>
                            <a:srgbClr val="F59E0B"/>
                          </a:solidFill>
                          <a:latin typeface="Calibri" pitchFamily="34" charset="0"/>
                          <a:ea typeface="Calibri" pitchFamily="34" charset="-122"/>
                          <a:cs typeface="Calibri" pitchFamily="34" charset="-120"/>
                        </a:rPr>
                        <a:t>Needs triage</a:t>
                      </a:r>
                      <a:endParaRPr lang="en-US" sz="1100" dirty="0">
                        <a:latin typeface="Calibri" charset="0"/>
                        <a:ea typeface="Calibri" charset="0"/>
                        <a:cs typeface="Calibri" charset="0"/>
                      </a:endParaRPr>
                    </a:p>
                  </a:txBody>
                  <a:tcPr marL="91440" marR="91440" marT="45720" marB="45720" anchor="ctr">
                    <a:lnL w="6350" cap="flat" cmpd="sng" algn="ctr">
                      <a:solidFill>
                        <a:srgbClr val="243340"/>
                      </a:solidFill>
                      <a:prstDash val="solid"/>
                      <a:round/>
                      <a:headEnd type="none" w="med" len="med"/>
                      <a:tailEnd type="none" w="med" len="med"/>
                    </a:lnL>
                    <a:lnR w="6350" cap="flat" cmpd="sng" algn="ctr">
                      <a:solidFill>
                        <a:srgbClr val="243340"/>
                      </a:solidFill>
                      <a:prstDash val="solid"/>
                      <a:round/>
                      <a:headEnd type="none" w="med" len="med"/>
                      <a:tailEnd type="none" w="med" len="med"/>
                    </a:lnR>
                    <a:lnT w="6350" cap="flat" cmpd="sng" algn="ctr">
                      <a:solidFill>
                        <a:srgbClr val="243340"/>
                      </a:solidFill>
                      <a:prstDash val="solid"/>
                      <a:round/>
                      <a:headEnd type="none" w="med" len="med"/>
                      <a:tailEnd type="none" w="med" len="med"/>
                    </a:lnT>
                    <a:lnB w="6350" cap="flat" cmpd="sng" algn="ctr">
                      <a:solidFill>
                        <a:srgbClr val="243340"/>
                      </a:solidFill>
                      <a:prstDash val="solid"/>
                      <a:round/>
                      <a:headEnd type="none" w="med" len="med"/>
                      <a:tailEnd type="none" w="med" len="med"/>
                    </a:lnB>
                    <a:solidFill>
                      <a:srgbClr val="1A2530"/>
                    </a:solidFill>
                  </a:tcPr>
                </a:tc>
              </a:tr>
            </a:tbl>
          </a:graphicData>
        </a:graphic>
      </p:graphicFrame>
      <p:sp>
        <p:nvSpPr>
          <p:cNvPr id="5" name="Shape 2"/>
          <p:cNvSpPr/>
          <p:nvPr/>
        </p:nvSpPr>
        <p:spPr>
          <a:xfrm>
            <a:off x="731520" y="3931920"/>
            <a:ext cx="7680960" cy="594360"/>
          </a:xfrm>
          <a:prstGeom prst="rect">
            <a:avLst/>
          </a:prstGeom>
          <a:solidFill>
            <a:srgbClr val="1A2530"/>
          </a:solidFill>
          <a:ln/>
        </p:spPr>
      </p:sp>
      <p:sp>
        <p:nvSpPr>
          <p:cNvPr id="6" name="Shape 3"/>
          <p:cNvSpPr/>
          <p:nvPr/>
        </p:nvSpPr>
        <p:spPr>
          <a:xfrm>
            <a:off x="731520" y="3931920"/>
            <a:ext cx="54864" cy="594360"/>
          </a:xfrm>
          <a:prstGeom prst="rect">
            <a:avLst/>
          </a:prstGeom>
          <a:solidFill>
            <a:srgbClr val="EC1B34"/>
          </a:solidFill>
          <a:ln/>
        </p:spPr>
      </p:sp>
      <p:sp>
        <p:nvSpPr>
          <p:cNvPr id="7" name="Text 4"/>
          <p:cNvSpPr/>
          <p:nvPr/>
        </p:nvSpPr>
        <p:spPr>
          <a:xfrm>
            <a:off x="1005840" y="3931920"/>
            <a:ext cx="7223760" cy="594360"/>
          </a:xfrm>
          <a:prstGeom prst="rect">
            <a:avLst/>
          </a:prstGeom>
          <a:noFill/>
          <a:ln/>
        </p:spPr>
        <p:txBody>
          <a:bodyPr wrap="square"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Key issue: </a:t>
            </a:r>
            <a:pPr indent="0" marL="0">
              <a:buNone/>
            </a:pPr>
            <a:r>
              <a:rPr lang="en-US" sz="1100" dirty="0">
                <a:solidFill>
                  <a:srgbClr val="E4E9EC"/>
                </a:solidFill>
                <a:latin typeface="Calibri" pitchFamily="34" charset="0"/>
                <a:ea typeface="Calibri" pitchFamily="34" charset="-122"/>
                <a:cs typeface="Calibri" pitchFamily="34" charset="-120"/>
              </a:rPr>
              <a:t>Rob has 53 open issues — sustainable is ~22 SP/sprint. Millicent has capacity to absorb FL backend tickets. Bea's 12 sprint items need trimming to 3–4 realistic targets.</a:t>
            </a:r>
            <a:endParaRPr lang="en-US" sz="1100" dirty="0"/>
          </a:p>
        </p:txBody>
      </p:sp>
      <p:pic>
        <p:nvPicPr>
          <p:cNvPr id="9"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10" name="Text 5"/>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11" name="Text 6"/>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5 / 10</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Quarterly Priorities — Status Check</a:t>
            </a:r>
            <a:endParaRPr lang="en-US" sz="2800" dirty="0"/>
          </a:p>
        </p:txBody>
      </p:sp>
      <p:sp>
        <p:nvSpPr>
          <p:cNvPr id="4" name="Shape 2"/>
          <p:cNvSpPr/>
          <p:nvPr/>
        </p:nvSpPr>
        <p:spPr>
          <a:xfrm>
            <a:off x="731520" y="1097280"/>
            <a:ext cx="76809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5" name="Shape 3"/>
          <p:cNvSpPr/>
          <p:nvPr/>
        </p:nvSpPr>
        <p:spPr>
          <a:xfrm>
            <a:off x="731520" y="1097280"/>
            <a:ext cx="54864" cy="1051560"/>
          </a:xfrm>
          <a:prstGeom prst="rect">
            <a:avLst/>
          </a:prstGeom>
          <a:solidFill>
            <a:srgbClr val="EC1B34"/>
          </a:solidFill>
          <a:ln/>
        </p:spPr>
      </p:sp>
      <p:sp>
        <p:nvSpPr>
          <p:cNvPr id="6" name="Text 4"/>
          <p:cNvSpPr/>
          <p:nvPr/>
        </p:nvSpPr>
        <p:spPr>
          <a:xfrm>
            <a:off x="1005840" y="1170432"/>
            <a:ext cx="4572000" cy="2560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Fuel Surcharge</a:t>
            </a:r>
            <a:endParaRPr lang="en-US" sz="1600" dirty="0"/>
          </a:p>
        </p:txBody>
      </p:sp>
      <p:sp>
        <p:nvSpPr>
          <p:cNvPr id="7" name="Shape 5"/>
          <p:cNvSpPr/>
          <p:nvPr/>
        </p:nvSpPr>
        <p:spPr>
          <a:xfrm>
            <a:off x="6949440" y="1170432"/>
            <a:ext cx="1188720" cy="256032"/>
          </a:xfrm>
          <a:prstGeom prst="rect">
            <a:avLst/>
          </a:prstGeom>
          <a:solidFill>
            <a:srgbClr val="EC1B34"/>
          </a:solidFill>
          <a:ln/>
        </p:spPr>
      </p:sp>
      <p:sp>
        <p:nvSpPr>
          <p:cNvPr id="8" name="Text 6"/>
          <p:cNvSpPr/>
          <p:nvPr/>
        </p:nvSpPr>
        <p:spPr>
          <a:xfrm>
            <a:off x="6949440" y="1170432"/>
            <a:ext cx="118872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Behind</a:t>
            </a:r>
            <a:endParaRPr lang="en-US" sz="1000" dirty="0"/>
          </a:p>
        </p:txBody>
      </p:sp>
      <p:sp>
        <p:nvSpPr>
          <p:cNvPr id="9" name="Text 7"/>
          <p:cNvSpPr/>
          <p:nvPr/>
        </p:nvSpPr>
        <p:spPr>
          <a:xfrm>
            <a:off x="1005840" y="1463040"/>
            <a:ext cx="7132320" cy="320040"/>
          </a:xfrm>
          <a:prstGeom prst="rect">
            <a:avLst/>
          </a:prstGeom>
          <a:noFill/>
          <a:ln/>
        </p:spPr>
        <p:txBody>
          <a:bodyPr wrap="square" lIns="0" tIns="0" rIns="0" bIns="0" rtlCol="0" anchor="ctr"/>
          <a:lstStyle/>
          <a:p>
            <a:pPr indent="0" marL="0">
              <a:buNone/>
            </a:pPr>
            <a:r>
              <a:rPr lang="en-US" sz="1100" dirty="0">
                <a:solidFill>
                  <a:srgbClr val="E4E9EC"/>
                </a:solidFill>
                <a:latin typeface="Calibri" pitchFamily="34" charset="0"/>
                <a:ea typeface="Calibri" pitchFamily="34" charset="-122"/>
                <a:cs typeface="Calibri" pitchFamily="34" charset="-120"/>
              </a:rPr>
              <a:t>14 tickets total. FL-1 to FL-4 (backend foundation) are unassigned and block everything. Rob's FL-5/FL-6 and all of Bea's frontend work are waiting.</a:t>
            </a:r>
            <a:endParaRPr lang="en-US" sz="1100" dirty="0"/>
          </a:p>
        </p:txBody>
      </p:sp>
      <p:sp>
        <p:nvSpPr>
          <p:cNvPr id="10" name="Text 8"/>
          <p:cNvSpPr/>
          <p:nvPr/>
        </p:nvSpPr>
        <p:spPr>
          <a:xfrm>
            <a:off x="1005840" y="1828800"/>
            <a:ext cx="7132320" cy="228600"/>
          </a:xfrm>
          <a:prstGeom prst="rect">
            <a:avLst/>
          </a:prstGeom>
          <a:noFill/>
          <a:ln/>
        </p:spPr>
        <p:txBody>
          <a:bodyPr wrap="square" lIns="0" tIns="0" rIns="0" bIns="0"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Action: </a:t>
            </a:r>
            <a:pPr indent="0" marL="0">
              <a:buNone/>
            </a:pPr>
            <a:r>
              <a:rPr lang="en-US" sz="1100" dirty="0">
                <a:solidFill>
                  <a:srgbClr val="FFFFFF"/>
                </a:solidFill>
                <a:latin typeface="Calibri" pitchFamily="34" charset="0"/>
                <a:ea typeface="Calibri" pitchFamily="34" charset="-122"/>
                <a:cs typeface="Calibri" pitchFamily="34" charset="-120"/>
              </a:rPr>
              <a:t>Assign FL-1 to FL-3 to Millicent now</a:t>
            </a:r>
            <a:endParaRPr lang="en-US" sz="1100" dirty="0"/>
          </a:p>
        </p:txBody>
      </p:sp>
      <p:sp>
        <p:nvSpPr>
          <p:cNvPr id="11" name="Shape 9"/>
          <p:cNvSpPr/>
          <p:nvPr/>
        </p:nvSpPr>
        <p:spPr>
          <a:xfrm>
            <a:off x="731520" y="2331720"/>
            <a:ext cx="76809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2" name="Shape 10"/>
          <p:cNvSpPr/>
          <p:nvPr/>
        </p:nvSpPr>
        <p:spPr>
          <a:xfrm>
            <a:off x="731520" y="2331720"/>
            <a:ext cx="54864" cy="1051560"/>
          </a:xfrm>
          <a:prstGeom prst="rect">
            <a:avLst/>
          </a:prstGeom>
          <a:solidFill>
            <a:srgbClr val="F59E0B"/>
          </a:solidFill>
          <a:ln/>
        </p:spPr>
      </p:sp>
      <p:sp>
        <p:nvSpPr>
          <p:cNvPr id="13" name="Text 11"/>
          <p:cNvSpPr/>
          <p:nvPr/>
        </p:nvSpPr>
        <p:spPr>
          <a:xfrm>
            <a:off x="1005840" y="2404872"/>
            <a:ext cx="4572000" cy="2560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Orders Experience</a:t>
            </a:r>
            <a:endParaRPr lang="en-US" sz="1600" dirty="0"/>
          </a:p>
        </p:txBody>
      </p:sp>
      <p:sp>
        <p:nvSpPr>
          <p:cNvPr id="14" name="Shape 12"/>
          <p:cNvSpPr/>
          <p:nvPr/>
        </p:nvSpPr>
        <p:spPr>
          <a:xfrm>
            <a:off x="6949440" y="2404872"/>
            <a:ext cx="1188720" cy="256032"/>
          </a:xfrm>
          <a:prstGeom prst="rect">
            <a:avLst/>
          </a:prstGeom>
          <a:solidFill>
            <a:srgbClr val="F59E0B"/>
          </a:solidFill>
          <a:ln/>
        </p:spPr>
      </p:sp>
      <p:sp>
        <p:nvSpPr>
          <p:cNvPr id="15" name="Text 13"/>
          <p:cNvSpPr/>
          <p:nvPr/>
        </p:nvSpPr>
        <p:spPr>
          <a:xfrm>
            <a:off x="6949440" y="2404872"/>
            <a:ext cx="118872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Progressing</a:t>
            </a:r>
            <a:endParaRPr lang="en-US" sz="1000" dirty="0"/>
          </a:p>
        </p:txBody>
      </p:sp>
      <p:sp>
        <p:nvSpPr>
          <p:cNvPr id="16" name="Text 14"/>
          <p:cNvSpPr/>
          <p:nvPr/>
        </p:nvSpPr>
        <p:spPr>
          <a:xfrm>
            <a:off x="1005840" y="2697480"/>
            <a:ext cx="7132320" cy="320040"/>
          </a:xfrm>
          <a:prstGeom prst="rect">
            <a:avLst/>
          </a:prstGeom>
          <a:noFill/>
          <a:ln/>
        </p:spPr>
        <p:txBody>
          <a:bodyPr wrap="square" lIns="0" tIns="0" rIns="0" bIns="0" rtlCol="0" anchor="ctr"/>
          <a:lstStyle/>
          <a:p>
            <a:pPr indent="0" marL="0">
              <a:buNone/>
            </a:pPr>
            <a:r>
              <a:rPr lang="en-US" sz="1100" dirty="0">
                <a:solidFill>
                  <a:srgbClr val="E4E9EC"/>
                </a:solidFill>
                <a:latin typeface="Calibri" pitchFamily="34" charset="0"/>
                <a:ea typeface="Calibri" pitchFamily="34" charset="-122"/>
                <a:cs typeface="Calibri" pitchFamily="34" charset="-120"/>
              </a:rPr>
              <a:t>Doug built the core (47 tickets). Bea owns the epic. 28 new design-feedback tickets in backlog need triage. 3 new sub-epics created for UX improvements.</a:t>
            </a:r>
            <a:endParaRPr lang="en-US" sz="1100" dirty="0"/>
          </a:p>
        </p:txBody>
      </p:sp>
      <p:sp>
        <p:nvSpPr>
          <p:cNvPr id="17" name="Text 15"/>
          <p:cNvSpPr/>
          <p:nvPr/>
        </p:nvSpPr>
        <p:spPr>
          <a:xfrm>
            <a:off x="1005840" y="3063240"/>
            <a:ext cx="7132320" cy="228600"/>
          </a:xfrm>
          <a:prstGeom prst="rect">
            <a:avLst/>
          </a:prstGeom>
          <a:noFill/>
          <a:ln/>
        </p:spPr>
        <p:txBody>
          <a:bodyPr wrap="square" lIns="0" tIns="0" rIns="0" bIns="0"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Action: </a:t>
            </a:r>
            <a:pPr indent="0" marL="0">
              <a:buNone/>
            </a:pPr>
            <a:r>
              <a:rPr lang="en-US" sz="1100" dirty="0">
                <a:solidFill>
                  <a:srgbClr val="FFFFFF"/>
                </a:solidFill>
                <a:latin typeface="Calibri" pitchFamily="34" charset="0"/>
                <a:ea typeface="Calibri" pitchFamily="34" charset="-122"/>
                <a:cs typeface="Calibri" pitchFamily="34" charset="-120"/>
              </a:rPr>
              <a:t>Triage design-feedback batch — pick 3–5 for Sprint 4</a:t>
            </a:r>
            <a:endParaRPr lang="en-US" sz="1100" dirty="0"/>
          </a:p>
        </p:txBody>
      </p:sp>
      <p:sp>
        <p:nvSpPr>
          <p:cNvPr id="18" name="Shape 16"/>
          <p:cNvSpPr/>
          <p:nvPr/>
        </p:nvSpPr>
        <p:spPr>
          <a:xfrm>
            <a:off x="731520" y="3566160"/>
            <a:ext cx="7680960" cy="10515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9" name="Shape 17"/>
          <p:cNvSpPr/>
          <p:nvPr/>
        </p:nvSpPr>
        <p:spPr>
          <a:xfrm>
            <a:off x="731520" y="3566160"/>
            <a:ext cx="54864" cy="1051560"/>
          </a:xfrm>
          <a:prstGeom prst="rect">
            <a:avLst/>
          </a:prstGeom>
          <a:solidFill>
            <a:srgbClr val="EC1B34"/>
          </a:solidFill>
          <a:ln/>
        </p:spPr>
      </p:sp>
      <p:sp>
        <p:nvSpPr>
          <p:cNvPr id="20" name="Text 18"/>
          <p:cNvSpPr/>
          <p:nvPr/>
        </p:nvSpPr>
        <p:spPr>
          <a:xfrm>
            <a:off x="1005840" y="3639312"/>
            <a:ext cx="4572000" cy="256032"/>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Refills in Cloud</a:t>
            </a:r>
            <a:endParaRPr lang="en-US" sz="1600" dirty="0"/>
          </a:p>
        </p:txBody>
      </p:sp>
      <p:sp>
        <p:nvSpPr>
          <p:cNvPr id="21" name="Shape 19"/>
          <p:cNvSpPr/>
          <p:nvPr/>
        </p:nvSpPr>
        <p:spPr>
          <a:xfrm>
            <a:off x="6949440" y="3639312"/>
            <a:ext cx="1188720" cy="256032"/>
          </a:xfrm>
          <a:prstGeom prst="rect">
            <a:avLst/>
          </a:prstGeom>
          <a:solidFill>
            <a:srgbClr val="EC1B34"/>
          </a:solidFill>
          <a:ln/>
        </p:spPr>
      </p:sp>
      <p:sp>
        <p:nvSpPr>
          <p:cNvPr id="22" name="Text 20"/>
          <p:cNvSpPr/>
          <p:nvPr/>
        </p:nvSpPr>
        <p:spPr>
          <a:xfrm>
            <a:off x="6949440" y="3639312"/>
            <a:ext cx="1188720" cy="256032"/>
          </a:xfrm>
          <a:prstGeom prst="rect">
            <a:avLst/>
          </a:prstGeom>
          <a:noFill/>
          <a:ln/>
        </p:spPr>
        <p:txBody>
          <a:bodyPr wrap="square"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Not Started</a:t>
            </a:r>
            <a:endParaRPr lang="en-US" sz="1000" dirty="0"/>
          </a:p>
        </p:txBody>
      </p:sp>
      <p:sp>
        <p:nvSpPr>
          <p:cNvPr id="23" name="Text 21"/>
          <p:cNvSpPr/>
          <p:nvPr/>
        </p:nvSpPr>
        <p:spPr>
          <a:xfrm>
            <a:off x="1005840" y="3931920"/>
            <a:ext cx="7132320" cy="320040"/>
          </a:xfrm>
          <a:prstGeom prst="rect">
            <a:avLst/>
          </a:prstGeom>
          <a:noFill/>
          <a:ln/>
        </p:spPr>
        <p:txBody>
          <a:bodyPr wrap="square" lIns="0" tIns="0" rIns="0" bIns="0" rtlCol="0" anchor="ctr"/>
          <a:lstStyle/>
          <a:p>
            <a:pPr indent="0" marL="0">
              <a:buNone/>
            </a:pPr>
            <a:r>
              <a:rPr lang="en-US" sz="1100" dirty="0">
                <a:solidFill>
                  <a:srgbClr val="E4E9EC"/>
                </a:solidFill>
                <a:latin typeface="Calibri" pitchFamily="34" charset="0"/>
                <a:ea typeface="Calibri" pitchFamily="34" charset="-122"/>
                <a:cs typeface="Calibri" pitchFamily="34" charset="-120"/>
              </a:rPr>
              <a:t>6 sub-tickets under NS Epic 1. Discovery (#4309) sitting since Sprint 1. Depends on NS Epic 0 Foundation which is also still open.</a:t>
            </a:r>
            <a:endParaRPr lang="en-US" sz="1100" dirty="0"/>
          </a:p>
        </p:txBody>
      </p:sp>
      <p:sp>
        <p:nvSpPr>
          <p:cNvPr id="24" name="Text 22"/>
          <p:cNvSpPr/>
          <p:nvPr/>
        </p:nvSpPr>
        <p:spPr>
          <a:xfrm>
            <a:off x="1005840" y="4297680"/>
            <a:ext cx="7132320" cy="228600"/>
          </a:xfrm>
          <a:prstGeom prst="rect">
            <a:avLst/>
          </a:prstGeom>
          <a:noFill/>
          <a:ln/>
        </p:spPr>
        <p:txBody>
          <a:bodyPr wrap="square" lIns="0" tIns="0" rIns="0" bIns="0" rtlCol="0" anchor="ctr"/>
          <a:lstStyle/>
          <a:p>
            <a:pPr indent="0" marL="0">
              <a:buNone/>
            </a:pPr>
            <a:r>
              <a:rPr lang="en-US" sz="1100" b="1" dirty="0">
                <a:solidFill>
                  <a:srgbClr val="EC1B34"/>
                </a:solidFill>
                <a:latin typeface="Calibri" pitchFamily="34" charset="0"/>
                <a:ea typeface="Calibri" pitchFamily="34" charset="-122"/>
                <a:cs typeface="Calibri" pitchFamily="34" charset="-120"/>
              </a:rPr>
              <a:t>Action: </a:t>
            </a:r>
            <a:pPr indent="0" marL="0">
              <a:buNone/>
            </a:pPr>
            <a:r>
              <a:rPr lang="en-US" sz="1100" dirty="0">
                <a:solidFill>
                  <a:srgbClr val="FFFFFF"/>
                </a:solidFill>
                <a:latin typeface="Calibri" pitchFamily="34" charset="0"/>
                <a:ea typeface="Calibri" pitchFamily="34" charset="-122"/>
                <a:cs typeface="Calibri" pitchFamily="34" charset="-120"/>
              </a:rPr>
              <a:t>Rob to complete NS-1.1 discovery this sprint</a:t>
            </a:r>
            <a:endParaRPr lang="en-US" sz="1100" dirty="0"/>
          </a:p>
        </p:txBody>
      </p:sp>
      <p:pic>
        <p:nvPicPr>
          <p:cNvPr id="2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7" name="Text 2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8" name="Text 2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6 / 10</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Backlog — 48 Unassigned Items</a:t>
            </a:r>
            <a:endParaRPr lang="en-US" sz="2800" dirty="0"/>
          </a:p>
        </p:txBody>
      </p:sp>
      <p:sp>
        <p:nvSpPr>
          <p:cNvPr id="4" name="Text 2"/>
          <p:cNvSpPr/>
          <p:nvPr/>
        </p:nvSpPr>
        <p:spPr>
          <a:xfrm>
            <a:off x="731520" y="914400"/>
            <a:ext cx="7680960" cy="228600"/>
          </a:xfrm>
          <a:prstGeom prst="rect">
            <a:avLst/>
          </a:prstGeom>
          <a:noFill/>
          <a:ln/>
        </p:spPr>
        <p:txBody>
          <a:bodyPr wrap="square" lIns="0" tIns="0" rIns="0" bIns="0" rtlCol="0" anchor="ctr"/>
          <a:lstStyle/>
          <a:p>
            <a:pPr indent="0" marL="0">
              <a:buNone/>
            </a:pPr>
            <a:r>
              <a:rPr lang="en-US" sz="1200" dirty="0">
                <a:solidFill>
                  <a:srgbClr val="7A8A96"/>
                </a:solidFill>
                <a:latin typeface="Calibri" pitchFamily="34" charset="0"/>
                <a:ea typeface="Calibri" pitchFamily="34" charset="-122"/>
                <a:cs typeface="Calibri" pitchFamily="34" charset="-120"/>
              </a:rPr>
              <a:t>Natural groupings identified for batch triage:</a:t>
            </a:r>
            <a:endParaRPr lang="en-US" sz="1200" dirty="0"/>
          </a:p>
        </p:txBody>
      </p:sp>
      <p:sp>
        <p:nvSpPr>
          <p:cNvPr id="5" name="Shape 3"/>
          <p:cNvSpPr/>
          <p:nvPr/>
        </p:nvSpPr>
        <p:spPr>
          <a:xfrm>
            <a:off x="731520" y="132588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6" name="Shape 4"/>
          <p:cNvSpPr/>
          <p:nvPr/>
        </p:nvSpPr>
        <p:spPr>
          <a:xfrm>
            <a:off x="731520" y="1325880"/>
            <a:ext cx="2377440" cy="36576"/>
          </a:xfrm>
          <a:prstGeom prst="rect">
            <a:avLst/>
          </a:prstGeom>
          <a:solidFill>
            <a:srgbClr val="EC1B34"/>
          </a:solidFill>
          <a:ln/>
        </p:spPr>
      </p:sp>
      <p:sp>
        <p:nvSpPr>
          <p:cNvPr id="7" name="Text 5"/>
          <p:cNvSpPr/>
          <p:nvPr/>
        </p:nvSpPr>
        <p:spPr>
          <a:xfrm>
            <a:off x="868680" y="1435608"/>
            <a:ext cx="548640" cy="320040"/>
          </a:xfrm>
          <a:prstGeom prst="rect">
            <a:avLst/>
          </a:prstGeom>
          <a:noFill/>
          <a:ln/>
        </p:spPr>
        <p:txBody>
          <a:bodyPr wrap="square" lIns="0" tIns="0" rIns="0" bIns="0" rtlCol="0" anchor="ctr"/>
          <a:lstStyle/>
          <a:p>
            <a:pPr indent="0" marL="0">
              <a:buNone/>
            </a:pPr>
            <a:r>
              <a:rPr lang="en-US" sz="2200" b="1" dirty="0">
                <a:solidFill>
                  <a:srgbClr val="EC1B34"/>
                </a:solidFill>
                <a:latin typeface="Calibri" pitchFamily="34" charset="0"/>
                <a:ea typeface="Calibri" pitchFamily="34" charset="-122"/>
                <a:cs typeface="Calibri" pitchFamily="34" charset="-120"/>
              </a:rPr>
              <a:t>28</a:t>
            </a:r>
            <a:endParaRPr lang="en-US" sz="2200" dirty="0"/>
          </a:p>
        </p:txBody>
      </p:sp>
      <p:sp>
        <p:nvSpPr>
          <p:cNvPr id="8" name="Text 6"/>
          <p:cNvSpPr/>
          <p:nvPr/>
        </p:nvSpPr>
        <p:spPr>
          <a:xfrm>
            <a:off x="1371600" y="145389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Design Feedback</a:t>
            </a:r>
            <a:endParaRPr lang="en-US" sz="1300" dirty="0"/>
          </a:p>
        </p:txBody>
      </p:sp>
      <p:sp>
        <p:nvSpPr>
          <p:cNvPr id="9" name="Text 7"/>
          <p:cNvSpPr/>
          <p:nvPr/>
        </p:nvSpPr>
        <p:spPr>
          <a:xfrm>
            <a:off x="868680" y="182880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3 epics: Rentals List, Rental Form, Order Detail. All from design review.</a:t>
            </a:r>
            <a:endParaRPr lang="en-US" sz="1000" dirty="0"/>
          </a:p>
        </p:txBody>
      </p:sp>
      <p:sp>
        <p:nvSpPr>
          <p:cNvPr id="10" name="Shape 8"/>
          <p:cNvSpPr/>
          <p:nvPr/>
        </p:nvSpPr>
        <p:spPr>
          <a:xfrm>
            <a:off x="3383280" y="132588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1" name="Shape 9"/>
          <p:cNvSpPr/>
          <p:nvPr/>
        </p:nvSpPr>
        <p:spPr>
          <a:xfrm>
            <a:off x="3383280" y="1325880"/>
            <a:ext cx="2377440" cy="36576"/>
          </a:xfrm>
          <a:prstGeom prst="rect">
            <a:avLst/>
          </a:prstGeom>
          <a:solidFill>
            <a:srgbClr val="F59E0B"/>
          </a:solidFill>
          <a:ln/>
        </p:spPr>
      </p:sp>
      <p:sp>
        <p:nvSpPr>
          <p:cNvPr id="12" name="Text 10"/>
          <p:cNvSpPr/>
          <p:nvPr/>
        </p:nvSpPr>
        <p:spPr>
          <a:xfrm>
            <a:off x="3520440" y="1435608"/>
            <a:ext cx="548640" cy="320040"/>
          </a:xfrm>
          <a:prstGeom prst="rect">
            <a:avLst/>
          </a:prstGeom>
          <a:noFill/>
          <a:ln/>
        </p:spPr>
        <p:txBody>
          <a:bodyPr wrap="square" lIns="0" tIns="0" rIns="0" bIns="0" rtlCol="0" anchor="ctr"/>
          <a:lstStyle/>
          <a:p>
            <a:pPr indent="0" marL="0">
              <a:buNone/>
            </a:pPr>
            <a:r>
              <a:rPr lang="en-US" sz="2200" b="1" dirty="0">
                <a:solidFill>
                  <a:srgbClr val="F59E0B"/>
                </a:solidFill>
                <a:latin typeface="Calibri" pitchFamily="34" charset="0"/>
                <a:ea typeface="Calibri" pitchFamily="34" charset="-122"/>
                <a:cs typeface="Calibri" pitchFamily="34" charset="-120"/>
              </a:rPr>
              <a:t>4</a:t>
            </a:r>
            <a:endParaRPr lang="en-US" sz="2200" dirty="0"/>
          </a:p>
        </p:txBody>
      </p:sp>
      <p:sp>
        <p:nvSpPr>
          <p:cNvPr id="13" name="Text 11"/>
          <p:cNvSpPr/>
          <p:nvPr/>
        </p:nvSpPr>
        <p:spPr>
          <a:xfrm>
            <a:off x="4023360" y="145389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NS Audit</a:t>
            </a:r>
            <a:endParaRPr lang="en-US" sz="1300" dirty="0"/>
          </a:p>
        </p:txBody>
      </p:sp>
      <p:sp>
        <p:nvSpPr>
          <p:cNvPr id="14" name="Text 12"/>
          <p:cNvSpPr/>
          <p:nvPr/>
        </p:nvSpPr>
        <p:spPr>
          <a:xfrm>
            <a:off x="3520440" y="182880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Token rotation tasks (#4536-4539). Half-day focused effort.</a:t>
            </a:r>
            <a:endParaRPr lang="en-US" sz="1000" dirty="0"/>
          </a:p>
        </p:txBody>
      </p:sp>
      <p:sp>
        <p:nvSpPr>
          <p:cNvPr id="15" name="Shape 13"/>
          <p:cNvSpPr/>
          <p:nvPr/>
        </p:nvSpPr>
        <p:spPr>
          <a:xfrm>
            <a:off x="6035040" y="132588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16" name="Shape 14"/>
          <p:cNvSpPr/>
          <p:nvPr/>
        </p:nvSpPr>
        <p:spPr>
          <a:xfrm>
            <a:off x="6035040" y="1325880"/>
            <a:ext cx="2377440" cy="36576"/>
          </a:xfrm>
          <a:prstGeom prst="rect">
            <a:avLst/>
          </a:prstGeom>
          <a:solidFill>
            <a:srgbClr val="FF3D54"/>
          </a:solidFill>
          <a:ln/>
        </p:spPr>
      </p:sp>
      <p:sp>
        <p:nvSpPr>
          <p:cNvPr id="17" name="Text 15"/>
          <p:cNvSpPr/>
          <p:nvPr/>
        </p:nvSpPr>
        <p:spPr>
          <a:xfrm>
            <a:off x="6172200" y="1435608"/>
            <a:ext cx="548640" cy="320040"/>
          </a:xfrm>
          <a:prstGeom prst="rect">
            <a:avLst/>
          </a:prstGeom>
          <a:noFill/>
          <a:ln/>
        </p:spPr>
        <p:txBody>
          <a:bodyPr wrap="square" lIns="0" tIns="0" rIns="0" bIns="0" rtlCol="0" anchor="ctr"/>
          <a:lstStyle/>
          <a:p>
            <a:pPr indent="0" marL="0">
              <a:buNone/>
            </a:pPr>
            <a:r>
              <a:rPr lang="en-US" sz="2200" b="1" dirty="0">
                <a:solidFill>
                  <a:srgbClr val="FF3D54"/>
                </a:solidFill>
                <a:latin typeface="Calibri" pitchFamily="34" charset="0"/>
                <a:ea typeface="Calibri" pitchFamily="34" charset="-122"/>
                <a:cs typeface="Calibri" pitchFamily="34" charset="-120"/>
              </a:rPr>
              <a:t>4</a:t>
            </a:r>
            <a:endParaRPr lang="en-US" sz="2200" dirty="0"/>
          </a:p>
        </p:txBody>
      </p:sp>
      <p:sp>
        <p:nvSpPr>
          <p:cNvPr id="18" name="Text 16"/>
          <p:cNvSpPr/>
          <p:nvPr/>
        </p:nvSpPr>
        <p:spPr>
          <a:xfrm>
            <a:off x="6675120" y="145389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Fuel Levy Backend</a:t>
            </a:r>
            <a:endParaRPr lang="en-US" sz="1300" dirty="0"/>
          </a:p>
        </p:txBody>
      </p:sp>
      <p:sp>
        <p:nvSpPr>
          <p:cNvPr id="19" name="Text 17"/>
          <p:cNvSpPr/>
          <p:nvPr/>
        </p:nvSpPr>
        <p:spPr>
          <a:xfrm>
            <a:off x="6172200" y="182880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FL-1 to FL-4 — critical blockers. Assign to Millicent.</a:t>
            </a:r>
            <a:endParaRPr lang="en-US" sz="1000" dirty="0"/>
          </a:p>
        </p:txBody>
      </p:sp>
      <p:sp>
        <p:nvSpPr>
          <p:cNvPr id="20" name="Shape 18"/>
          <p:cNvSpPr/>
          <p:nvPr/>
        </p:nvSpPr>
        <p:spPr>
          <a:xfrm>
            <a:off x="731520" y="283464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21" name="Shape 19"/>
          <p:cNvSpPr/>
          <p:nvPr/>
        </p:nvSpPr>
        <p:spPr>
          <a:xfrm>
            <a:off x="731520" y="2834640"/>
            <a:ext cx="2377440" cy="36576"/>
          </a:xfrm>
          <a:prstGeom prst="rect">
            <a:avLst/>
          </a:prstGeom>
          <a:solidFill>
            <a:srgbClr val="7A8A96"/>
          </a:solidFill>
          <a:ln/>
        </p:spPr>
      </p:sp>
      <p:sp>
        <p:nvSpPr>
          <p:cNvPr id="22" name="Text 20"/>
          <p:cNvSpPr/>
          <p:nvPr/>
        </p:nvSpPr>
        <p:spPr>
          <a:xfrm>
            <a:off x="868680" y="2944368"/>
            <a:ext cx="548640" cy="320040"/>
          </a:xfrm>
          <a:prstGeom prst="rect">
            <a:avLst/>
          </a:prstGeom>
          <a:noFill/>
          <a:ln/>
        </p:spPr>
        <p:txBody>
          <a:bodyPr wrap="square" lIns="0" tIns="0" rIns="0" bIns="0" rtlCol="0" anchor="ctr"/>
          <a:lstStyle/>
          <a:p>
            <a:pPr indent="0" marL="0">
              <a:buNone/>
            </a:pPr>
            <a:r>
              <a:rPr lang="en-US" sz="2200" b="1" dirty="0">
                <a:solidFill>
                  <a:srgbClr val="7A8A96"/>
                </a:solidFill>
                <a:latin typeface="Calibri" pitchFamily="34" charset="0"/>
                <a:ea typeface="Calibri" pitchFamily="34" charset="-122"/>
                <a:cs typeface="Calibri" pitchFamily="34" charset="-120"/>
              </a:rPr>
              <a:t>3</a:t>
            </a:r>
            <a:endParaRPr lang="en-US" sz="2200" dirty="0"/>
          </a:p>
        </p:txBody>
      </p:sp>
      <p:sp>
        <p:nvSpPr>
          <p:cNvPr id="23" name="Text 21"/>
          <p:cNvSpPr/>
          <p:nvPr/>
        </p:nvSpPr>
        <p:spPr>
          <a:xfrm>
            <a:off x="1371600" y="296265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Legacy Cleanup</a:t>
            </a:r>
            <a:endParaRPr lang="en-US" sz="1300" dirty="0"/>
          </a:p>
        </p:txBody>
      </p:sp>
      <p:sp>
        <p:nvSpPr>
          <p:cNvPr id="24" name="Text 22"/>
          <p:cNvSpPr/>
          <p:nvPr/>
        </p:nvSpPr>
        <p:spPr>
          <a:xfrm>
            <a:off x="868680" y="333756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Remove SSID Bank, Sigfox refs, consolidate tenant. Tech debt day.</a:t>
            </a:r>
            <a:endParaRPr lang="en-US" sz="1000" dirty="0"/>
          </a:p>
        </p:txBody>
      </p:sp>
      <p:sp>
        <p:nvSpPr>
          <p:cNvPr id="25" name="Shape 23"/>
          <p:cNvSpPr/>
          <p:nvPr/>
        </p:nvSpPr>
        <p:spPr>
          <a:xfrm>
            <a:off x="3383280" y="283464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26" name="Shape 24"/>
          <p:cNvSpPr/>
          <p:nvPr/>
        </p:nvSpPr>
        <p:spPr>
          <a:xfrm>
            <a:off x="3383280" y="2834640"/>
            <a:ext cx="2377440" cy="36576"/>
          </a:xfrm>
          <a:prstGeom prst="rect">
            <a:avLst/>
          </a:prstGeom>
          <a:solidFill>
            <a:srgbClr val="22C55E"/>
          </a:solidFill>
          <a:ln/>
        </p:spPr>
      </p:sp>
      <p:sp>
        <p:nvSpPr>
          <p:cNvPr id="27" name="Text 25"/>
          <p:cNvSpPr/>
          <p:nvPr/>
        </p:nvSpPr>
        <p:spPr>
          <a:xfrm>
            <a:off x="3520440" y="2944368"/>
            <a:ext cx="548640" cy="320040"/>
          </a:xfrm>
          <a:prstGeom prst="rect">
            <a:avLst/>
          </a:prstGeom>
          <a:noFill/>
          <a:ln/>
        </p:spPr>
        <p:txBody>
          <a:bodyPr wrap="square" lIns="0" tIns="0" rIns="0" bIns="0" rtlCol="0" anchor="ctr"/>
          <a:lstStyle/>
          <a:p>
            <a:pPr indent="0" marL="0">
              <a:buNone/>
            </a:pPr>
            <a:r>
              <a:rPr lang="en-US" sz="2200" b="1" dirty="0">
                <a:solidFill>
                  <a:srgbClr val="22C55E"/>
                </a:solidFill>
                <a:latin typeface="Calibri" pitchFamily="34" charset="0"/>
                <a:ea typeface="Calibri" pitchFamily="34" charset="-122"/>
                <a:cs typeface="Calibri" pitchFamily="34" charset="-120"/>
              </a:rPr>
              <a:t>2</a:t>
            </a:r>
            <a:endParaRPr lang="en-US" sz="2200" dirty="0"/>
          </a:p>
        </p:txBody>
      </p:sp>
      <p:sp>
        <p:nvSpPr>
          <p:cNvPr id="28" name="Text 26"/>
          <p:cNvSpPr/>
          <p:nvPr/>
        </p:nvSpPr>
        <p:spPr>
          <a:xfrm>
            <a:off x="4023360" y="296265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Performance</a:t>
            </a:r>
            <a:endParaRPr lang="en-US" sz="1300" dirty="0"/>
          </a:p>
        </p:txBody>
      </p:sp>
      <p:sp>
        <p:nvSpPr>
          <p:cNvPr id="29" name="Text 27"/>
          <p:cNvSpPr/>
          <p:nvPr/>
        </p:nvSpPr>
        <p:spPr>
          <a:xfrm>
            <a:off x="3520440" y="333756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Global search 11s, assets query. Pair programming session.</a:t>
            </a:r>
            <a:endParaRPr lang="en-US" sz="1000" dirty="0"/>
          </a:p>
        </p:txBody>
      </p:sp>
      <p:sp>
        <p:nvSpPr>
          <p:cNvPr id="30" name="Shape 28"/>
          <p:cNvSpPr/>
          <p:nvPr/>
        </p:nvSpPr>
        <p:spPr>
          <a:xfrm>
            <a:off x="6035040" y="2834640"/>
            <a:ext cx="2377440" cy="1280160"/>
          </a:xfrm>
          <a:prstGeom prst="rect">
            <a:avLst/>
          </a:prstGeom>
          <a:solidFill>
            <a:srgbClr val="1A2530"/>
          </a:solidFill>
          <a:ln/>
          <a:effectLst>
            <a:outerShdw sx="100000" sy="100000" kx="0" ky="0" algn="bl" rotWithShape="0" blurRad="50800" dist="25400" dir="8100000">
              <a:srgbClr val="000000">
                <a:alpha val="25000"/>
              </a:srgbClr>
            </a:outerShdw>
          </a:effectLst>
        </p:spPr>
      </p:sp>
      <p:sp>
        <p:nvSpPr>
          <p:cNvPr id="31" name="Shape 29"/>
          <p:cNvSpPr/>
          <p:nvPr/>
        </p:nvSpPr>
        <p:spPr>
          <a:xfrm>
            <a:off x="6035040" y="2834640"/>
            <a:ext cx="2377440" cy="36576"/>
          </a:xfrm>
          <a:prstGeom prst="rect">
            <a:avLst/>
          </a:prstGeom>
          <a:solidFill>
            <a:srgbClr val="C8CDD0"/>
          </a:solidFill>
          <a:ln/>
        </p:spPr>
      </p:sp>
      <p:sp>
        <p:nvSpPr>
          <p:cNvPr id="32" name="Text 30"/>
          <p:cNvSpPr/>
          <p:nvPr/>
        </p:nvSpPr>
        <p:spPr>
          <a:xfrm>
            <a:off x="6172200" y="2944368"/>
            <a:ext cx="548640" cy="320040"/>
          </a:xfrm>
          <a:prstGeom prst="rect">
            <a:avLst/>
          </a:prstGeom>
          <a:noFill/>
          <a:ln/>
        </p:spPr>
        <p:txBody>
          <a:bodyPr wrap="square" lIns="0" tIns="0" rIns="0" bIns="0" rtlCol="0" anchor="ctr"/>
          <a:lstStyle/>
          <a:p>
            <a:pPr indent="0" marL="0">
              <a:buNone/>
            </a:pPr>
            <a:r>
              <a:rPr lang="en-US" sz="2200" b="1" dirty="0">
                <a:solidFill>
                  <a:srgbClr val="C8CDD0"/>
                </a:solidFill>
                <a:latin typeface="Calibri" pitchFamily="34" charset="0"/>
                <a:ea typeface="Calibri" pitchFamily="34" charset="-122"/>
                <a:cs typeface="Calibri" pitchFamily="34" charset="-120"/>
              </a:rPr>
              <a:t>7</a:t>
            </a:r>
            <a:endParaRPr lang="en-US" sz="2200" dirty="0"/>
          </a:p>
        </p:txBody>
      </p:sp>
      <p:sp>
        <p:nvSpPr>
          <p:cNvPr id="33" name="Text 31"/>
          <p:cNvSpPr/>
          <p:nvPr/>
        </p:nvSpPr>
        <p:spPr>
          <a:xfrm>
            <a:off x="6675120" y="2962656"/>
            <a:ext cx="1554480" cy="274320"/>
          </a:xfrm>
          <a:prstGeom prst="rect">
            <a:avLst/>
          </a:prstGeom>
          <a:noFill/>
          <a:ln/>
        </p:spPr>
        <p:txBody>
          <a:bodyPr wrap="square" lIns="0" tIns="0" rIns="0" bIns="0" rtlCol="0" anchor="ctr"/>
          <a:lstStyle/>
          <a:p>
            <a:pPr indent="0" marL="0">
              <a:buNone/>
            </a:pPr>
            <a:r>
              <a:rPr lang="en-US" sz="1300" b="1" dirty="0">
                <a:solidFill>
                  <a:srgbClr val="FFFFFF"/>
                </a:solidFill>
                <a:latin typeface="Calibri" pitchFamily="34" charset="0"/>
                <a:ea typeface="Calibri" pitchFamily="34" charset="-122"/>
                <a:cs typeface="Calibri" pitchFamily="34" charset="-120"/>
              </a:rPr>
              <a:t>Other</a:t>
            </a:r>
            <a:endParaRPr lang="en-US" sz="1300" dirty="0"/>
          </a:p>
        </p:txBody>
      </p:sp>
      <p:sp>
        <p:nvSpPr>
          <p:cNvPr id="34" name="Text 32"/>
          <p:cNvSpPr/>
          <p:nvPr/>
        </p:nvSpPr>
        <p:spPr>
          <a:xfrm>
            <a:off x="6172200" y="3337560"/>
            <a:ext cx="2103120" cy="685800"/>
          </a:xfrm>
          <a:prstGeom prst="rect">
            <a:avLst/>
          </a:prstGeom>
          <a:noFill/>
          <a:ln/>
        </p:spPr>
        <p:txBody>
          <a:bodyPr wrap="square" lIns="0" tIns="0" rIns="0" bIns="0" rtlCol="0" anchor="ctr"/>
          <a:lstStyle/>
          <a:p>
            <a:pPr indent="0" marL="0">
              <a:buNone/>
            </a:pPr>
            <a:r>
              <a:rPr lang="en-US" sz="1000" dirty="0">
                <a:solidFill>
                  <a:srgbClr val="E4E9EC"/>
                </a:solidFill>
                <a:latin typeface="Calibri" pitchFamily="34" charset="0"/>
                <a:ea typeface="Calibri" pitchFamily="34" charset="-122"/>
                <a:cs typeface="Calibri" pitchFamily="34" charset="-120"/>
              </a:rPr>
              <a:t>Misc: cutoff time, unschedule endpoint, billing backpopulate.</a:t>
            </a:r>
            <a:endParaRPr lang="en-US" sz="1000" dirty="0"/>
          </a:p>
        </p:txBody>
      </p:sp>
      <p:pic>
        <p:nvPicPr>
          <p:cNvPr id="3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37" name="Text 3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38" name="Text 3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7 / 10</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640080"/>
          </a:xfrm>
          <a:prstGeom prst="rect">
            <a:avLst/>
          </a:prstGeom>
          <a:noFill/>
          <a:ln/>
        </p:spPr>
        <p:txBody>
          <a:bodyPr wrap="square" lIns="0" tIns="0" rIns="0" bIns="0" rtlCol="0" anchor="ctr"/>
          <a:lstStyle/>
          <a:p>
            <a:pPr indent="0" marL="0">
              <a:buNone/>
            </a:pPr>
            <a:r>
              <a:rPr lang="en-US" sz="2800" b="1" dirty="0">
                <a:solidFill>
                  <a:srgbClr val="FFFFFF"/>
                </a:solidFill>
                <a:latin typeface="Montserrat" pitchFamily="34" charset="0"/>
                <a:ea typeface="Montserrat" pitchFamily="34" charset="-122"/>
                <a:cs typeface="Montserrat" pitchFamily="34" charset="-120"/>
              </a:rPr>
              <a:t>Doug Handover — Monday Checklist</a:t>
            </a:r>
            <a:endParaRPr lang="en-US" sz="2800" dirty="0"/>
          </a:p>
        </p:txBody>
      </p:sp>
      <p:sp>
        <p:nvSpPr>
          <p:cNvPr id="4" name="Shape 2"/>
          <p:cNvSpPr/>
          <p:nvPr/>
        </p:nvSpPr>
        <p:spPr>
          <a:xfrm>
            <a:off x="731520" y="1133856"/>
            <a:ext cx="640080" cy="256032"/>
          </a:xfrm>
          <a:prstGeom prst="rect">
            <a:avLst/>
          </a:prstGeom>
          <a:solidFill>
            <a:srgbClr val="EC1B34"/>
          </a:solidFill>
          <a:ln/>
        </p:spPr>
      </p:sp>
      <p:sp>
        <p:nvSpPr>
          <p:cNvPr id="5" name="Text 3"/>
          <p:cNvSpPr/>
          <p:nvPr/>
        </p:nvSpPr>
        <p:spPr>
          <a:xfrm>
            <a:off x="731520" y="1133856"/>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6" name="Text 4"/>
          <p:cNvSpPr/>
          <p:nvPr/>
        </p:nvSpPr>
        <p:spPr>
          <a:xfrm>
            <a:off x="1600200" y="1097280"/>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Confirm all 10 open tickets are documented for Bea to pick up</a:t>
            </a:r>
            <a:endParaRPr lang="en-US" sz="1300" dirty="0"/>
          </a:p>
        </p:txBody>
      </p:sp>
      <p:sp>
        <p:nvSpPr>
          <p:cNvPr id="7" name="Shape 5"/>
          <p:cNvSpPr/>
          <p:nvPr/>
        </p:nvSpPr>
        <p:spPr>
          <a:xfrm>
            <a:off x="731520" y="1645920"/>
            <a:ext cx="640080" cy="256032"/>
          </a:xfrm>
          <a:prstGeom prst="rect">
            <a:avLst/>
          </a:prstGeom>
          <a:solidFill>
            <a:srgbClr val="EC1B34"/>
          </a:solidFill>
          <a:ln/>
        </p:spPr>
      </p:sp>
      <p:sp>
        <p:nvSpPr>
          <p:cNvPr id="8" name="Text 6"/>
          <p:cNvSpPr/>
          <p:nvPr/>
        </p:nvSpPr>
        <p:spPr>
          <a:xfrm>
            <a:off x="731520" y="1645920"/>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9" name="Text 7"/>
          <p:cNvSpPr/>
          <p:nvPr/>
        </p:nvSpPr>
        <p:spPr>
          <a:xfrm>
            <a:off x="1600200" y="1609344"/>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Deep-dive on #4526 (lease decoupling) — architecturally complex</a:t>
            </a:r>
            <a:endParaRPr lang="en-US" sz="1300" dirty="0"/>
          </a:p>
        </p:txBody>
      </p:sp>
      <p:sp>
        <p:nvSpPr>
          <p:cNvPr id="10" name="Shape 8"/>
          <p:cNvSpPr/>
          <p:nvPr/>
        </p:nvSpPr>
        <p:spPr>
          <a:xfrm>
            <a:off x="731520" y="2157984"/>
            <a:ext cx="640080" cy="256032"/>
          </a:xfrm>
          <a:prstGeom prst="rect">
            <a:avLst/>
          </a:prstGeom>
          <a:solidFill>
            <a:srgbClr val="EC1B34"/>
          </a:solidFill>
          <a:ln/>
        </p:spPr>
      </p:sp>
      <p:sp>
        <p:nvSpPr>
          <p:cNvPr id="11" name="Text 9"/>
          <p:cNvSpPr/>
          <p:nvPr/>
        </p:nvSpPr>
        <p:spPr>
          <a:xfrm>
            <a:off x="731520" y="2157984"/>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12" name="Text 10"/>
          <p:cNvSpPr/>
          <p:nvPr/>
        </p:nvSpPr>
        <p:spPr>
          <a:xfrm>
            <a:off x="1600200" y="2121408"/>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Rainforest QA test access and credentials documented</a:t>
            </a:r>
            <a:endParaRPr lang="en-US" sz="1300" dirty="0"/>
          </a:p>
        </p:txBody>
      </p:sp>
      <p:sp>
        <p:nvSpPr>
          <p:cNvPr id="13" name="Shape 11"/>
          <p:cNvSpPr/>
          <p:nvPr/>
        </p:nvSpPr>
        <p:spPr>
          <a:xfrm>
            <a:off x="731520" y="2670048"/>
            <a:ext cx="640080" cy="256032"/>
          </a:xfrm>
          <a:prstGeom prst="rect">
            <a:avLst/>
          </a:prstGeom>
          <a:solidFill>
            <a:srgbClr val="EC1B34"/>
          </a:solidFill>
          <a:ln/>
        </p:spPr>
      </p:sp>
      <p:sp>
        <p:nvSpPr>
          <p:cNvPr id="14" name="Text 12"/>
          <p:cNvSpPr/>
          <p:nvPr/>
        </p:nvSpPr>
        <p:spPr>
          <a:xfrm>
            <a:off x="731520" y="2670048"/>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Must</a:t>
            </a:r>
            <a:endParaRPr lang="en-US" sz="900" dirty="0"/>
          </a:p>
        </p:txBody>
      </p:sp>
      <p:sp>
        <p:nvSpPr>
          <p:cNvPr id="15" name="Text 13"/>
          <p:cNvSpPr/>
          <p:nvPr/>
        </p:nvSpPr>
        <p:spPr>
          <a:xfrm>
            <a:off x="1600200" y="2633472"/>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Handover recordings confirmed in SharePoint</a:t>
            </a:r>
            <a:endParaRPr lang="en-US" sz="1300" dirty="0"/>
          </a:p>
        </p:txBody>
      </p:sp>
      <p:sp>
        <p:nvSpPr>
          <p:cNvPr id="16" name="Shape 14"/>
          <p:cNvSpPr/>
          <p:nvPr/>
        </p:nvSpPr>
        <p:spPr>
          <a:xfrm>
            <a:off x="731520" y="3182112"/>
            <a:ext cx="640080" cy="256032"/>
          </a:xfrm>
          <a:prstGeom prst="rect">
            <a:avLst/>
          </a:prstGeom>
          <a:solidFill>
            <a:srgbClr val="F59E0B"/>
          </a:solidFill>
          <a:ln/>
        </p:spPr>
      </p:sp>
      <p:sp>
        <p:nvSpPr>
          <p:cNvPr id="17" name="Text 15"/>
          <p:cNvSpPr/>
          <p:nvPr/>
        </p:nvSpPr>
        <p:spPr>
          <a:xfrm>
            <a:off x="731520" y="3182112"/>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Ask</a:t>
            </a:r>
            <a:endParaRPr lang="en-US" sz="900" dirty="0"/>
          </a:p>
        </p:txBody>
      </p:sp>
      <p:sp>
        <p:nvSpPr>
          <p:cNvPr id="18" name="Text 16"/>
          <p:cNvSpPr/>
          <p:nvPr/>
        </p:nvSpPr>
        <p:spPr>
          <a:xfrm>
            <a:off x="1600200" y="3145536"/>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Undocumented tribal knowledge about Orders frontend state management?</a:t>
            </a:r>
            <a:endParaRPr lang="en-US" sz="1300" dirty="0"/>
          </a:p>
        </p:txBody>
      </p:sp>
      <p:sp>
        <p:nvSpPr>
          <p:cNvPr id="19" name="Shape 17"/>
          <p:cNvSpPr/>
          <p:nvPr/>
        </p:nvSpPr>
        <p:spPr>
          <a:xfrm>
            <a:off x="731520" y="3694176"/>
            <a:ext cx="640080" cy="256032"/>
          </a:xfrm>
          <a:prstGeom prst="rect">
            <a:avLst/>
          </a:prstGeom>
          <a:solidFill>
            <a:srgbClr val="7A8A96"/>
          </a:solidFill>
          <a:ln/>
        </p:spPr>
      </p:sp>
      <p:sp>
        <p:nvSpPr>
          <p:cNvPr id="20" name="Text 18"/>
          <p:cNvSpPr/>
          <p:nvPr/>
        </p:nvSpPr>
        <p:spPr>
          <a:xfrm>
            <a:off x="731520" y="3694176"/>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Nice</a:t>
            </a:r>
            <a:endParaRPr lang="en-US" sz="900" dirty="0"/>
          </a:p>
        </p:txBody>
      </p:sp>
      <p:sp>
        <p:nvSpPr>
          <p:cNvPr id="21" name="Text 19"/>
          <p:cNvSpPr/>
          <p:nvPr/>
        </p:nvSpPr>
        <p:spPr>
          <a:xfrm>
            <a:off x="1600200" y="3657600"/>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Group 3 Rainforest QA tickets (#4473-4475) into single effort for Bea</a:t>
            </a:r>
            <a:endParaRPr lang="en-US" sz="1300" dirty="0"/>
          </a:p>
        </p:txBody>
      </p:sp>
      <p:sp>
        <p:nvSpPr>
          <p:cNvPr id="22" name="Shape 20"/>
          <p:cNvSpPr/>
          <p:nvPr/>
        </p:nvSpPr>
        <p:spPr>
          <a:xfrm>
            <a:off x="731520" y="4206240"/>
            <a:ext cx="640080" cy="256032"/>
          </a:xfrm>
          <a:prstGeom prst="rect">
            <a:avLst/>
          </a:prstGeom>
          <a:solidFill>
            <a:srgbClr val="22C55E"/>
          </a:solidFill>
          <a:ln/>
        </p:spPr>
      </p:sp>
      <p:sp>
        <p:nvSpPr>
          <p:cNvPr id="23" name="Text 21"/>
          <p:cNvSpPr/>
          <p:nvPr/>
        </p:nvSpPr>
        <p:spPr>
          <a:xfrm>
            <a:off x="731520" y="4206240"/>
            <a:ext cx="64008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Do</a:t>
            </a:r>
            <a:endParaRPr lang="en-US" sz="900" dirty="0"/>
          </a:p>
        </p:txBody>
      </p:sp>
      <p:sp>
        <p:nvSpPr>
          <p:cNvPr id="24" name="Text 22"/>
          <p:cNvSpPr/>
          <p:nvPr/>
        </p:nvSpPr>
        <p:spPr>
          <a:xfrm>
            <a:off x="1600200" y="4169664"/>
            <a:ext cx="66751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Reassign #4636 (feature flag cleanup) to Bea — good starter ticket</a:t>
            </a:r>
            <a:endParaRPr lang="en-US" sz="1300" dirty="0"/>
          </a:p>
        </p:txBody>
      </p:sp>
      <p:pic>
        <p:nvPicPr>
          <p:cNvPr id="26"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27" name="Text 23"/>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28" name="Text 24"/>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8 / 10</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A22"/>
        </a:solidFill>
      </p:bgPr>
    </p:bg>
    <p:spTree>
      <p:nvGrpSpPr>
        <p:cNvPr id="1" name=""/>
        <p:cNvGrpSpPr/>
        <p:nvPr/>
      </p:nvGrpSpPr>
      <p:grpSpPr>
        <a:xfrm>
          <a:off x="0" y="0"/>
          <a:ext cx="0" cy="0"/>
          <a:chOff x="0" y="0"/>
          <a:chExt cx="0" cy="0"/>
        </a:xfrm>
      </p:grpSpPr>
      <p:sp>
        <p:nvSpPr>
          <p:cNvPr id="2" name="Shape 0"/>
          <p:cNvSpPr/>
          <p:nvPr/>
        </p:nvSpPr>
        <p:spPr>
          <a:xfrm>
            <a:off x="0" y="0"/>
            <a:ext cx="9144000" cy="54864"/>
          </a:xfrm>
          <a:prstGeom prst="rect">
            <a:avLst/>
          </a:prstGeom>
          <a:solidFill>
            <a:srgbClr val="EC1B34"/>
          </a:solidFill>
          <a:ln/>
        </p:spPr>
      </p:sp>
      <p:sp>
        <p:nvSpPr>
          <p:cNvPr id="3" name="Text 1"/>
          <p:cNvSpPr/>
          <p:nvPr/>
        </p:nvSpPr>
        <p:spPr>
          <a:xfrm>
            <a:off x="731520" y="274320"/>
            <a:ext cx="7680960" cy="548640"/>
          </a:xfrm>
          <a:prstGeom prst="rect">
            <a:avLst/>
          </a:prstGeom>
          <a:noFill/>
          <a:ln/>
        </p:spPr>
        <p:txBody>
          <a:bodyPr wrap="square" lIns="0" tIns="0" rIns="0" bIns="0" rtlCol="0" anchor="ctr"/>
          <a:lstStyle/>
          <a:p>
            <a:pPr indent="0" marL="0">
              <a:buNone/>
            </a:pPr>
            <a:r>
              <a:rPr lang="en-US" sz="3200" b="1" dirty="0">
                <a:solidFill>
                  <a:srgbClr val="FFFFFF"/>
                </a:solidFill>
                <a:latin typeface="Montserrat" pitchFamily="34" charset="0"/>
                <a:ea typeface="Montserrat" pitchFamily="34" charset="-122"/>
                <a:cs typeface="Montserrat" pitchFamily="34" charset="-120"/>
              </a:rPr>
              <a:t>Recommended Actions</a:t>
            </a:r>
            <a:endParaRPr lang="en-US" sz="3200" dirty="0"/>
          </a:p>
        </p:txBody>
      </p:sp>
      <p:sp>
        <p:nvSpPr>
          <p:cNvPr id="4" name="Shape 2"/>
          <p:cNvSpPr/>
          <p:nvPr/>
        </p:nvSpPr>
        <p:spPr>
          <a:xfrm>
            <a:off x="731520" y="978408"/>
            <a:ext cx="310896" cy="310896"/>
          </a:xfrm>
          <a:prstGeom prst="ellipse">
            <a:avLst/>
          </a:prstGeom>
          <a:solidFill>
            <a:srgbClr val="EC1B34"/>
          </a:solidFill>
          <a:ln/>
        </p:spPr>
      </p:sp>
      <p:sp>
        <p:nvSpPr>
          <p:cNvPr id="5" name="Text 3"/>
          <p:cNvSpPr/>
          <p:nvPr/>
        </p:nvSpPr>
        <p:spPr>
          <a:xfrm>
            <a:off x="731520" y="978408"/>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6" name="Text 4"/>
          <p:cNvSpPr/>
          <p:nvPr/>
        </p:nvSpPr>
        <p:spPr>
          <a:xfrm>
            <a:off x="1234440" y="960120"/>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Reassign Doug's 10 tickets — 7 to Bea, 3 QA tickets grouped</a:t>
            </a:r>
            <a:endParaRPr lang="en-US" sz="1300" dirty="0"/>
          </a:p>
        </p:txBody>
      </p:sp>
      <p:sp>
        <p:nvSpPr>
          <p:cNvPr id="7" name="Shape 5"/>
          <p:cNvSpPr/>
          <p:nvPr/>
        </p:nvSpPr>
        <p:spPr>
          <a:xfrm>
            <a:off x="731520" y="1380744"/>
            <a:ext cx="310896" cy="310896"/>
          </a:xfrm>
          <a:prstGeom prst="ellipse">
            <a:avLst/>
          </a:prstGeom>
          <a:solidFill>
            <a:srgbClr val="EC1B34"/>
          </a:solidFill>
          <a:ln/>
        </p:spPr>
      </p:sp>
      <p:sp>
        <p:nvSpPr>
          <p:cNvPr id="8" name="Text 6"/>
          <p:cNvSpPr/>
          <p:nvPr/>
        </p:nvSpPr>
        <p:spPr>
          <a:xfrm>
            <a:off x="731520" y="1380744"/>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9" name="Text 7"/>
          <p:cNvSpPr/>
          <p:nvPr/>
        </p:nvSpPr>
        <p:spPr>
          <a:xfrm>
            <a:off x="1234440" y="1362456"/>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Assign FL-1 to FL-4 to Millicent — unblock Fuel Levy chain</a:t>
            </a:r>
            <a:endParaRPr lang="en-US" sz="1300" dirty="0"/>
          </a:p>
        </p:txBody>
      </p:sp>
      <p:sp>
        <p:nvSpPr>
          <p:cNvPr id="10" name="Shape 8"/>
          <p:cNvSpPr/>
          <p:nvPr/>
        </p:nvSpPr>
        <p:spPr>
          <a:xfrm>
            <a:off x="731520" y="1783080"/>
            <a:ext cx="310896" cy="310896"/>
          </a:xfrm>
          <a:prstGeom prst="ellipse">
            <a:avLst/>
          </a:prstGeom>
          <a:solidFill>
            <a:srgbClr val="EC1B34"/>
          </a:solidFill>
          <a:ln/>
        </p:spPr>
      </p:sp>
      <p:sp>
        <p:nvSpPr>
          <p:cNvPr id="11" name="Text 9"/>
          <p:cNvSpPr/>
          <p:nvPr/>
        </p:nvSpPr>
        <p:spPr>
          <a:xfrm>
            <a:off x="731520" y="1783080"/>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2" name="Text 10"/>
          <p:cNvSpPr/>
          <p:nvPr/>
        </p:nvSpPr>
        <p:spPr>
          <a:xfrm>
            <a:off x="1234440" y="1764792"/>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Timebox NS Audit — agree budget (e.g. 3 SP/sprint) with leadership</a:t>
            </a:r>
            <a:endParaRPr lang="en-US" sz="1300" dirty="0"/>
          </a:p>
        </p:txBody>
      </p:sp>
      <p:sp>
        <p:nvSpPr>
          <p:cNvPr id="13" name="Shape 11"/>
          <p:cNvSpPr/>
          <p:nvPr/>
        </p:nvSpPr>
        <p:spPr>
          <a:xfrm>
            <a:off x="731520" y="2185416"/>
            <a:ext cx="310896" cy="310896"/>
          </a:xfrm>
          <a:prstGeom prst="ellipse">
            <a:avLst/>
          </a:prstGeom>
          <a:solidFill>
            <a:srgbClr val="EC1B34"/>
          </a:solidFill>
          <a:ln/>
        </p:spPr>
      </p:sp>
      <p:sp>
        <p:nvSpPr>
          <p:cNvPr id="14" name="Text 12"/>
          <p:cNvSpPr/>
          <p:nvPr/>
        </p:nvSpPr>
        <p:spPr>
          <a:xfrm>
            <a:off x="731520" y="2185416"/>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15" name="Text 13"/>
          <p:cNvSpPr/>
          <p:nvPr/>
        </p:nvSpPr>
        <p:spPr>
          <a:xfrm>
            <a:off x="1234440" y="2167128"/>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Clean Sprint 1 milestone — move or close 10 stale items</a:t>
            </a:r>
            <a:endParaRPr lang="en-US" sz="1300" dirty="0"/>
          </a:p>
        </p:txBody>
      </p:sp>
      <p:sp>
        <p:nvSpPr>
          <p:cNvPr id="16" name="Shape 14"/>
          <p:cNvSpPr/>
          <p:nvPr/>
        </p:nvSpPr>
        <p:spPr>
          <a:xfrm>
            <a:off x="731520" y="2587752"/>
            <a:ext cx="310896" cy="310896"/>
          </a:xfrm>
          <a:prstGeom prst="ellipse">
            <a:avLst/>
          </a:prstGeom>
          <a:solidFill>
            <a:srgbClr val="EC1B34"/>
          </a:solidFill>
          <a:ln/>
        </p:spPr>
      </p:sp>
      <p:sp>
        <p:nvSpPr>
          <p:cNvPr id="17" name="Text 15"/>
          <p:cNvSpPr/>
          <p:nvPr/>
        </p:nvSpPr>
        <p:spPr>
          <a:xfrm>
            <a:off x="731520" y="2587752"/>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18" name="Text 16"/>
          <p:cNvSpPr/>
          <p:nvPr/>
        </p:nvSpPr>
        <p:spPr>
          <a:xfrm>
            <a:off x="1234440" y="2569464"/>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Triage design-feedback batch — pick 3–5 for Sprint 4, backlog rest</a:t>
            </a:r>
            <a:endParaRPr lang="en-US" sz="1300" dirty="0"/>
          </a:p>
        </p:txBody>
      </p:sp>
      <p:sp>
        <p:nvSpPr>
          <p:cNvPr id="19" name="Shape 17"/>
          <p:cNvSpPr/>
          <p:nvPr/>
        </p:nvSpPr>
        <p:spPr>
          <a:xfrm>
            <a:off x="731520" y="2990088"/>
            <a:ext cx="310896" cy="310896"/>
          </a:xfrm>
          <a:prstGeom prst="ellipse">
            <a:avLst/>
          </a:prstGeom>
          <a:solidFill>
            <a:srgbClr val="EC1B34"/>
          </a:solidFill>
          <a:ln/>
        </p:spPr>
      </p:sp>
      <p:sp>
        <p:nvSpPr>
          <p:cNvPr id="20" name="Text 18"/>
          <p:cNvSpPr/>
          <p:nvPr/>
        </p:nvSpPr>
        <p:spPr>
          <a:xfrm>
            <a:off x="731520" y="2990088"/>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6</a:t>
            </a:r>
            <a:endParaRPr lang="en-US" sz="1300" dirty="0"/>
          </a:p>
        </p:txBody>
      </p:sp>
      <p:sp>
        <p:nvSpPr>
          <p:cNvPr id="21" name="Text 19"/>
          <p:cNvSpPr/>
          <p:nvPr/>
        </p:nvSpPr>
        <p:spPr>
          <a:xfrm>
            <a:off x="1234440" y="2971800"/>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Rob scope reduction — 53 open items unsustainable, defer 10+</a:t>
            </a:r>
            <a:endParaRPr lang="en-US" sz="1300" dirty="0"/>
          </a:p>
        </p:txBody>
      </p:sp>
      <p:sp>
        <p:nvSpPr>
          <p:cNvPr id="22" name="Shape 20"/>
          <p:cNvSpPr/>
          <p:nvPr/>
        </p:nvSpPr>
        <p:spPr>
          <a:xfrm>
            <a:off x="731520" y="3392424"/>
            <a:ext cx="310896" cy="310896"/>
          </a:xfrm>
          <a:prstGeom prst="ellipse">
            <a:avLst/>
          </a:prstGeom>
          <a:solidFill>
            <a:srgbClr val="EC1B34"/>
          </a:solidFill>
          <a:ln/>
        </p:spPr>
      </p:sp>
      <p:sp>
        <p:nvSpPr>
          <p:cNvPr id="23" name="Text 21"/>
          <p:cNvSpPr/>
          <p:nvPr/>
        </p:nvSpPr>
        <p:spPr>
          <a:xfrm>
            <a:off x="731520" y="3392424"/>
            <a:ext cx="310896"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a:t>
            </a:r>
            <a:endParaRPr lang="en-US" sz="1300" dirty="0"/>
          </a:p>
        </p:txBody>
      </p:sp>
      <p:sp>
        <p:nvSpPr>
          <p:cNvPr id="24" name="Text 22"/>
          <p:cNvSpPr/>
          <p:nvPr/>
        </p:nvSpPr>
        <p:spPr>
          <a:xfrm>
            <a:off x="1234440" y="3374136"/>
            <a:ext cx="7132320" cy="347472"/>
          </a:xfrm>
          <a:prstGeom prst="rect">
            <a:avLst/>
          </a:prstGeom>
          <a:noFill/>
          <a:ln/>
        </p:spPr>
        <p:txBody>
          <a:bodyPr wrap="square" lIns="0" tIns="0" rIns="0" bIns="0" rtlCol="0" anchor="ctr"/>
          <a:lstStyle/>
          <a:p>
            <a:pPr indent="0" marL="0">
              <a:buNone/>
            </a:pPr>
            <a:r>
              <a:rPr lang="en-US" sz="1300" dirty="0">
                <a:solidFill>
                  <a:srgbClr val="E4E9EC"/>
                </a:solidFill>
                <a:latin typeface="Calibri" pitchFamily="34" charset="0"/>
                <a:ea typeface="Calibri" pitchFamily="34" charset="-122"/>
                <a:cs typeface="Calibri" pitchFamily="34" charset="-120"/>
              </a:rPr>
              <a:t>Revised Sprint 3 goals for remaining 7 days:</a:t>
            </a:r>
            <a:endParaRPr lang="en-US" sz="1300" dirty="0"/>
          </a:p>
        </p:txBody>
      </p:sp>
      <p:sp>
        <p:nvSpPr>
          <p:cNvPr id="25" name="Shape 23"/>
          <p:cNvSpPr/>
          <p:nvPr/>
        </p:nvSpPr>
        <p:spPr>
          <a:xfrm>
            <a:off x="1234440" y="3840480"/>
            <a:ext cx="7132320" cy="777240"/>
          </a:xfrm>
          <a:prstGeom prst="rect">
            <a:avLst/>
          </a:prstGeom>
          <a:solidFill>
            <a:srgbClr val="1A2530"/>
          </a:solidFill>
          <a:ln/>
        </p:spPr>
      </p:sp>
      <p:sp>
        <p:nvSpPr>
          <p:cNvPr id="26" name="Shape 24"/>
          <p:cNvSpPr/>
          <p:nvPr/>
        </p:nvSpPr>
        <p:spPr>
          <a:xfrm>
            <a:off x="1234440" y="3840480"/>
            <a:ext cx="54864" cy="777240"/>
          </a:xfrm>
          <a:prstGeom prst="rect">
            <a:avLst/>
          </a:prstGeom>
          <a:solidFill>
            <a:srgbClr val="EC1B34"/>
          </a:solidFill>
          <a:ln/>
        </p:spPr>
      </p:sp>
      <p:sp>
        <p:nvSpPr>
          <p:cNvPr id="27" name="Text 25"/>
          <p:cNvSpPr/>
          <p:nvPr/>
        </p:nvSpPr>
        <p:spPr>
          <a:xfrm>
            <a:off x="1463040" y="3886200"/>
            <a:ext cx="6675120" cy="685800"/>
          </a:xfrm>
          <a:prstGeom prst="rect">
            <a:avLst/>
          </a:prstGeom>
          <a:noFill/>
          <a:ln/>
        </p:spPr>
        <p:txBody>
          <a:bodyPr wrap="square" rtlCol="0" anchor="ctr"/>
          <a:lstStyle/>
          <a:p>
            <a:pPr indent="0" marL="0">
              <a:spcAft>
                <a:spcPts val="300"/>
              </a:spcAft>
              <a:buNone/>
            </a:pPr>
            <a:r>
              <a:rPr lang="en-US" sz="1100" b="1" dirty="0">
                <a:solidFill>
                  <a:srgbClr val="EC1B34"/>
                </a:solidFill>
                <a:latin typeface="Calibri" pitchFamily="34" charset="0"/>
                <a:ea typeface="Calibri" pitchFamily="34" charset="-122"/>
                <a:cs typeface="Calibri" pitchFamily="34" charset="-120"/>
              </a:rPr>
              <a:t>Rob: </a:t>
            </a:r>
            <a:pPr indent="0" marL="0">
              <a:spcAft>
                <a:spcPts val="300"/>
              </a:spcAft>
              <a:buNone/>
            </a:pPr>
            <a:r>
              <a:rPr lang="en-US" sz="1100" dirty="0">
                <a:solidFill>
                  <a:srgbClr val="E4E9EC"/>
                </a:solidFill>
                <a:latin typeface="Calibri" pitchFamily="34" charset="0"/>
                <a:ea typeface="Calibri" pitchFamily="34" charset="-122"/>
                <a:cs typeface="Calibri" pitchFamily="34" charset="-120"/>
              </a:rPr>
              <a:t>FL-5, FL-6, #4477, #4436, NS-1.1 discovery</a:t>
            </a:r>
            <a:endParaRPr lang="en-US" sz="1100" dirty="0"/>
          </a:p>
          <a:p>
            <a:pPr indent="0" marL="0">
              <a:spcAft>
                <a:spcPts val="300"/>
              </a:spcAft>
              <a:buNone/>
            </a:pPr>
            <a:r>
              <a:rPr lang="en-US" sz="1100" b="1" dirty="0">
                <a:solidFill>
                  <a:srgbClr val="EC1B34"/>
                </a:solidFill>
                <a:latin typeface="Calibri" pitchFamily="34" charset="0"/>
                <a:ea typeface="Calibri" pitchFamily="34" charset="-122"/>
                <a:cs typeface="Calibri" pitchFamily="34" charset="-120"/>
              </a:rPr>
              <a:t>Millicent: </a:t>
            </a:r>
            <a:pPr indent="0" marL="0">
              <a:spcAft>
                <a:spcPts val="300"/>
              </a:spcAft>
              <a:buNone/>
            </a:pPr>
            <a:r>
              <a:rPr lang="en-US" sz="1100" dirty="0">
                <a:solidFill>
                  <a:srgbClr val="E4E9EC"/>
                </a:solidFill>
                <a:latin typeface="Calibri" pitchFamily="34" charset="0"/>
                <a:ea typeface="Calibri" pitchFamily="34" charset="-122"/>
                <a:cs typeface="Calibri" pitchFamily="34" charset="-120"/>
              </a:rPr>
              <a:t>Start FL-1/FL-2, ship #4586, fix #4567</a:t>
            </a:r>
            <a:endParaRPr lang="en-US" sz="1100" dirty="0"/>
          </a:p>
          <a:p>
            <a:pPr indent="0" marL="0">
              <a:spcAft>
                <a:spcPts val="300"/>
              </a:spcAft>
              <a:buNone/>
            </a:pPr>
            <a:r>
              <a:rPr lang="en-US" sz="1100" b="1" dirty="0">
                <a:solidFill>
                  <a:srgbClr val="EC1B34"/>
                </a:solidFill>
                <a:latin typeface="Calibri" pitchFamily="34" charset="0"/>
                <a:ea typeface="Calibri" pitchFamily="34" charset="-122"/>
                <a:cs typeface="Calibri" pitchFamily="34" charset="-120"/>
              </a:rPr>
              <a:t>Bea: </a:t>
            </a:r>
            <a:pPr indent="0" marL="0">
              <a:spcAft>
                <a:spcPts val="300"/>
              </a:spcAft>
              <a:buNone/>
            </a:pPr>
            <a:r>
              <a:rPr lang="en-US" sz="1100" dirty="0">
                <a:solidFill>
                  <a:srgbClr val="E4E9EC"/>
                </a:solidFill>
                <a:latin typeface="Calibri" pitchFamily="34" charset="0"/>
                <a:ea typeface="Calibri" pitchFamily="34" charset="-122"/>
                <a:cs typeface="Calibri" pitchFamily="34" charset="-120"/>
              </a:rPr>
              <a:t>First PR merged (#4636 or #4498), start #4565 and #4369</a:t>
            </a:r>
            <a:endParaRPr lang="en-US" sz="1100" dirty="0"/>
          </a:p>
        </p:txBody>
      </p:sp>
      <p:pic>
        <p:nvPicPr>
          <p:cNvPr id="29" name="Image 0" descr="preencoded.png">    </p:cNvPr>
          <p:cNvPicPr>
            <a:picLocks noChangeAspect="1"/>
          </p:cNvPicPr>
          <p:nvPr/>
        </p:nvPicPr>
        <p:blipFill>
          <a:blip r:embed="rId1"/>
          <a:stretch>
            <a:fillRect/>
          </a:stretch>
        </p:blipFill>
        <p:spPr>
          <a:xfrm>
            <a:off x="365760" y="4617720"/>
            <a:ext cx="228600" cy="365760"/>
          </a:xfrm>
          <a:prstGeom prst="rect">
            <a:avLst/>
          </a:prstGeom>
        </p:spPr>
      </p:pic>
      <p:sp>
        <p:nvSpPr>
          <p:cNvPr id="30" name="Text 26"/>
          <p:cNvSpPr/>
          <p:nvPr/>
        </p:nvSpPr>
        <p:spPr>
          <a:xfrm>
            <a:off x="640080" y="4709160"/>
            <a:ext cx="4572000" cy="274320"/>
          </a:xfrm>
          <a:prstGeom prst="rect">
            <a:avLst/>
          </a:prstGeom>
          <a:noFill/>
          <a:ln/>
        </p:spPr>
        <p:txBody>
          <a:bodyPr wrap="square" rtlCol="0" anchor="ctr"/>
          <a:lstStyle/>
          <a:p>
            <a:pPr indent="0" marL="0">
              <a:buNone/>
            </a:pPr>
            <a:r>
              <a:rPr lang="en-US" sz="900" dirty="0">
                <a:solidFill>
                  <a:srgbClr val="7A8A96"/>
                </a:solidFill>
                <a:latin typeface="Calibri" pitchFamily="34" charset="0"/>
                <a:ea typeface="Calibri" pitchFamily="34" charset="-122"/>
                <a:cs typeface="Calibri" pitchFamily="34" charset="-120"/>
              </a:rPr>
              <a:t>Konvoy Kegs  ·  Katch Cloud Engineering</a:t>
            </a:r>
            <a:endParaRPr lang="en-US" sz="900" dirty="0"/>
          </a:p>
        </p:txBody>
      </p:sp>
      <p:sp>
        <p:nvSpPr>
          <p:cNvPr id="31" name="Text 27"/>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9 / 10</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B141B"/>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EC1B34"/>
          </a:solidFill>
          <a:ln/>
        </p:spPr>
      </p:sp>
      <p:sp>
        <p:nvSpPr>
          <p:cNvPr id="3" name="Shape 1"/>
          <p:cNvSpPr/>
          <p:nvPr/>
        </p:nvSpPr>
        <p:spPr>
          <a:xfrm>
            <a:off x="6400800" y="457200"/>
            <a:ext cx="2743200" cy="4686300"/>
          </a:xfrm>
          <a:prstGeom prst="rect">
            <a:avLst/>
          </a:prstGeom>
          <a:solidFill>
            <a:srgbClr val="EC1B34">
              <a:alpha val="15000"/>
            </a:srgbClr>
          </a:solidFill>
          <a:ln/>
        </p:spPr>
      </p:sp>
      <p:pic>
        <p:nvPicPr>
          <p:cNvPr id="4" name="Image 0" descr="preencoded.png">    </p:cNvPr>
          <p:cNvPicPr>
            <a:picLocks noChangeAspect="1"/>
          </p:cNvPicPr>
          <p:nvPr/>
        </p:nvPicPr>
        <p:blipFill>
          <a:blip r:embed="rId1"/>
          <a:stretch>
            <a:fillRect/>
          </a:stretch>
        </p:blipFill>
        <p:spPr>
          <a:xfrm>
            <a:off x="7498080" y="1645920"/>
            <a:ext cx="1097280" cy="1737360"/>
          </a:xfrm>
          <a:prstGeom prst="rect">
            <a:avLst/>
          </a:prstGeom>
        </p:spPr>
      </p:pic>
      <p:sp>
        <p:nvSpPr>
          <p:cNvPr id="5" name="Text 2"/>
          <p:cNvSpPr/>
          <p:nvPr/>
        </p:nvSpPr>
        <p:spPr>
          <a:xfrm>
            <a:off x="457200" y="365760"/>
            <a:ext cx="1371600" cy="1371600"/>
          </a:xfrm>
          <a:prstGeom prst="rect">
            <a:avLst/>
          </a:prstGeom>
          <a:noFill/>
          <a:ln/>
        </p:spPr>
        <p:txBody>
          <a:bodyPr wrap="square" lIns="0" tIns="0" rIns="0" bIns="0" rtlCol="0" anchor="ctr"/>
          <a:lstStyle/>
          <a:p>
            <a:pPr indent="0" marL="0">
              <a:buNone/>
            </a:pPr>
            <a:r>
              <a:rPr lang="en-US" sz="12000" b="1" dirty="0">
                <a:solidFill>
                  <a:srgbClr val="EC1B34"/>
                </a:solidFill>
                <a:latin typeface="Georgia" pitchFamily="34" charset="0"/>
                <a:ea typeface="Georgia" pitchFamily="34" charset="-122"/>
                <a:cs typeface="Georgia" pitchFamily="34" charset="-120"/>
              </a:rPr>
              <a:t>“</a:t>
            </a:r>
            <a:endParaRPr lang="en-US" sz="12000" dirty="0"/>
          </a:p>
        </p:txBody>
      </p:sp>
      <p:sp>
        <p:nvSpPr>
          <p:cNvPr id="6" name="Text 3"/>
          <p:cNvSpPr/>
          <p:nvPr/>
        </p:nvSpPr>
        <p:spPr>
          <a:xfrm>
            <a:off x="731520" y="1371600"/>
            <a:ext cx="5943600" cy="731520"/>
          </a:xfrm>
          <a:prstGeom prst="rect">
            <a:avLst/>
          </a:prstGeom>
          <a:noFill/>
          <a:ln/>
        </p:spPr>
        <p:txBody>
          <a:bodyPr wrap="square" lIns="0" tIns="0" rIns="0" bIns="0" rtlCol="0" anchor="ctr"/>
          <a:lstStyle/>
          <a:p>
            <a:pPr indent="0" marL="0">
              <a:buNone/>
            </a:pPr>
            <a:r>
              <a:rPr lang="en-US" sz="2000" i="1" dirty="0">
                <a:solidFill>
                  <a:srgbClr val="C8CDD0"/>
                </a:solidFill>
                <a:latin typeface="Georgia" pitchFamily="34" charset="0"/>
                <a:ea typeface="Georgia" pitchFamily="34" charset="-122"/>
                <a:cs typeface="Georgia" pitchFamily="34" charset="-120"/>
              </a:rPr>
              <a:t>Ah, breaker one-nine, this here's the Rubber Duck...</a:t>
            </a:r>
            <a:endParaRPr lang="en-US" sz="2000" dirty="0"/>
          </a:p>
        </p:txBody>
      </p:sp>
      <p:sp>
        <p:nvSpPr>
          <p:cNvPr id="7" name="Text 4"/>
          <p:cNvSpPr/>
          <p:nvPr/>
        </p:nvSpPr>
        <p:spPr>
          <a:xfrm>
            <a:off x="731520" y="2194560"/>
            <a:ext cx="5669280" cy="1097280"/>
          </a:xfrm>
          <a:prstGeom prst="rect">
            <a:avLst/>
          </a:prstGeom>
          <a:noFill/>
          <a:ln/>
        </p:spPr>
        <p:txBody>
          <a:bodyPr wrap="square" lIns="0" tIns="0" rIns="0" bIns="0" rtlCol="0" anchor="ctr"/>
          <a:lstStyle/>
          <a:p>
            <a:pPr indent="0" marL="0">
              <a:buNone/>
            </a:pPr>
            <a:r>
              <a:rPr lang="en-US" sz="2200" b="1" dirty="0">
                <a:solidFill>
                  <a:srgbClr val="FFFFFF"/>
                </a:solidFill>
                <a:latin typeface="Calibri" pitchFamily="34" charset="0"/>
                <a:ea typeface="Calibri" pitchFamily="34" charset="-122"/>
                <a:cs typeface="Calibri" pitchFamily="34" charset="-120"/>
              </a:rPr>
              <a:t>Doug — </a:t>
            </a:r>
            <a:pPr indent="0" marL="0">
              <a:buNone/>
            </a:pPr>
            <a:r>
              <a:rPr lang="en-US" sz="1600" dirty="0">
                <a:solidFill>
                  <a:srgbClr val="E4E9EC"/>
                </a:solidFill>
                <a:latin typeface="Calibri" pitchFamily="34" charset="0"/>
                <a:ea typeface="Calibri" pitchFamily="34" charset="-122"/>
                <a:cs typeface="Calibri" pitchFamily="34" charset="-120"/>
              </a:rPr>
              <a:t>you built the road we're all driving on now. 47 tickets, an entire Orders frontend, and the foundation this team will build on for years.</a:t>
            </a:r>
            <a:endParaRPr lang="en-US" sz="2200" dirty="0"/>
          </a:p>
        </p:txBody>
      </p:sp>
      <p:sp>
        <p:nvSpPr>
          <p:cNvPr id="8" name="Text 5"/>
          <p:cNvSpPr/>
          <p:nvPr/>
        </p:nvSpPr>
        <p:spPr>
          <a:xfrm>
            <a:off x="731520" y="3337560"/>
            <a:ext cx="5669280" cy="457200"/>
          </a:xfrm>
          <a:prstGeom prst="rect">
            <a:avLst/>
          </a:prstGeom>
          <a:noFill/>
          <a:ln/>
        </p:spPr>
        <p:txBody>
          <a:bodyPr wrap="square" lIns="0" tIns="0" rIns="0" bIns="0" rtlCol="0" anchor="ctr"/>
          <a:lstStyle/>
          <a:p>
            <a:pPr indent="0" marL="0">
              <a:buNone/>
            </a:pPr>
            <a:r>
              <a:rPr lang="en-US" sz="1800" i="1" dirty="0">
                <a:solidFill>
                  <a:srgbClr val="C8CDD0"/>
                </a:solidFill>
                <a:latin typeface="Calibri" pitchFamily="34" charset="0"/>
                <a:ea typeface="Calibri" pitchFamily="34" charset="-122"/>
                <a:cs typeface="Calibri" pitchFamily="34" charset="-120"/>
              </a:rPr>
              <a:t>Time to set off on a new highway of discovery.</a:t>
            </a:r>
            <a:endParaRPr lang="en-US" sz="1800" dirty="0"/>
          </a:p>
        </p:txBody>
      </p:sp>
      <p:sp>
        <p:nvSpPr>
          <p:cNvPr id="9" name="Shape 6"/>
          <p:cNvSpPr/>
          <p:nvPr/>
        </p:nvSpPr>
        <p:spPr>
          <a:xfrm>
            <a:off x="731520" y="3886200"/>
            <a:ext cx="5029200" cy="36576"/>
          </a:xfrm>
          <a:prstGeom prst="rect">
            <a:avLst/>
          </a:prstGeom>
          <a:solidFill>
            <a:srgbClr val="EC1B34"/>
          </a:solidFill>
          <a:ln/>
        </p:spPr>
      </p:sp>
      <p:sp>
        <p:nvSpPr>
          <p:cNvPr id="10" name="Text 7"/>
          <p:cNvSpPr/>
          <p:nvPr/>
        </p:nvSpPr>
        <p:spPr>
          <a:xfrm>
            <a:off x="731520" y="4023360"/>
            <a:ext cx="5943600" cy="274320"/>
          </a:xfrm>
          <a:prstGeom prst="rect">
            <a:avLst/>
          </a:prstGeom>
          <a:noFill/>
          <a:ln/>
        </p:spPr>
        <p:txBody>
          <a:bodyPr wrap="square" lIns="0" tIns="0" rIns="0" bIns="0" rtlCol="0" anchor="ctr"/>
          <a:lstStyle/>
          <a:p>
            <a:pPr indent="0" marL="0">
              <a:buNone/>
            </a:pPr>
            <a:r>
              <a:rPr lang="en-US" sz="1100" i="1" dirty="0">
                <a:solidFill>
                  <a:srgbClr val="7A8A96"/>
                </a:solidFill>
                <a:latin typeface="Calibri" pitchFamily="34" charset="0"/>
                <a:ea typeface="Calibri" pitchFamily="34" charset="-122"/>
                <a:cs typeface="Calibri" pitchFamily="34" charset="-120"/>
              </a:rPr>
              <a:t>"We got a great big convoy, rockin' through the night"</a:t>
            </a:r>
            <a:pPr indent="0" marL="0">
              <a:buNone/>
            </a:pPr>
            <a:r>
              <a:rPr lang="en-US" sz="1100" dirty="0">
                <a:solidFill>
                  <a:srgbClr val="7A8A96"/>
                </a:solidFill>
                <a:latin typeface="Calibri" pitchFamily="34" charset="0"/>
                <a:ea typeface="Calibri" pitchFamily="34" charset="-122"/>
                <a:cs typeface="Calibri" pitchFamily="34" charset="-120"/>
              </a:rPr>
              <a:t>  —  </a:t>
            </a:r>
            <a:pPr indent="0" marL="0">
              <a:buNone/>
            </a:pPr>
            <a:r>
              <a:rPr lang="en-US" sz="1100" dirty="0">
                <a:solidFill>
                  <a:srgbClr val="7A8A96"/>
                </a:solidFill>
                <a:latin typeface="Calibri" pitchFamily="34" charset="0"/>
                <a:ea typeface="Calibri" pitchFamily="34" charset="-122"/>
                <a:cs typeface="Calibri" pitchFamily="34" charset="-120"/>
              </a:rPr>
              <a:t>C.W. McCall, Convoy (1978)</a:t>
            </a:r>
            <a:endParaRPr lang="en-US" sz="1100" dirty="0"/>
          </a:p>
        </p:txBody>
      </p:sp>
      <p:pic>
        <p:nvPicPr>
          <p:cNvPr id="12" name="Image 1" descr="preencoded.png">    </p:cNvPr>
          <p:cNvPicPr>
            <a:picLocks noChangeAspect="1"/>
          </p:cNvPicPr>
          <p:nvPr/>
        </p:nvPicPr>
        <p:blipFill>
          <a:blip r:embed="rId2"/>
          <a:stretch>
            <a:fillRect/>
          </a:stretch>
        </p:blipFill>
        <p:spPr>
          <a:xfrm>
            <a:off x="731520" y="4572000"/>
            <a:ext cx="1645920" cy="329184"/>
          </a:xfrm>
          <a:prstGeom prst="rect">
            <a:avLst/>
          </a:prstGeom>
        </p:spPr>
      </p:pic>
      <p:sp>
        <p:nvSpPr>
          <p:cNvPr id="13" name="Text 8"/>
          <p:cNvSpPr/>
          <p:nvPr/>
        </p:nvSpPr>
        <p:spPr>
          <a:xfrm>
            <a:off x="7772400" y="4709160"/>
            <a:ext cx="914400" cy="274320"/>
          </a:xfrm>
          <a:prstGeom prst="rect">
            <a:avLst/>
          </a:prstGeom>
          <a:noFill/>
          <a:ln/>
        </p:spPr>
        <p:txBody>
          <a:bodyPr wrap="square" rtlCol="0" anchor="ctr"/>
          <a:lstStyle/>
          <a:p>
            <a:pPr algn="r" indent="0" marL="0">
              <a:buNone/>
            </a:pPr>
            <a:r>
              <a:rPr lang="en-US" sz="900" dirty="0">
                <a:solidFill>
                  <a:srgbClr val="7A8A96"/>
                </a:solidFill>
                <a:latin typeface="Calibri" pitchFamily="34" charset="0"/>
                <a:ea typeface="Calibri" pitchFamily="34" charset="-122"/>
                <a:cs typeface="Calibri" pitchFamily="34" charset="-120"/>
              </a:rPr>
              <a:t>10 / 10</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Monday Meeting Prep — Sprint 3 Status</dc:title>
  <dc:subject>PptxGenJS Presentation</dc:subject>
  <dc:creator>Rob Wilde</dc:creator>
  <cp:lastModifiedBy>Rob Wilde</cp:lastModifiedBy>
  <cp:revision>1</cp:revision>
  <dcterms:created xsi:type="dcterms:W3CDTF">2026-04-11T07:16:31Z</dcterms:created>
  <dcterms:modified xsi:type="dcterms:W3CDTF">2026-04-11T07:16:31Z</dcterms:modified>
</cp:coreProperties>
</file>